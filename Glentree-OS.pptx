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Everything shown is live in production, not a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reveal. Six new capabilities; the rest of the deck expands four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agents. Figures are real: 28 calls in the last 30 days, 16 answered and transcribed.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182 villas plotted. The ~184 figure marketed includes two that sit on the plan without a separate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pipeline. The last figure is the point: zero manual steps between upload and four live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reporting: each channel shows only the metrics its API actually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operational hubs behind one permission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numbers can be trusted: honest empty states and verification against live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extensibility: a second project already runs on the same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258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GLENTREE SERENITY  ·  NADERGUL, HYDERABAD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55648"/>
            <a:ext cx="110578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Glentree OS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852928"/>
            <a:ext cx="9046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C9D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 for a 184-villa estate.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84448"/>
            <a:ext cx="79488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is running in production today — connected to live Meta, YouTube and LinkedIn accounts, a live WhatsApp number and a live voice line. No mockups, no sample data.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074920"/>
            <a:ext cx="255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E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30352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2026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99968" y="5074920"/>
            <a:ext cx="255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E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399968" y="530352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233008" y="5074920"/>
            <a:ext cx="255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E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530352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routes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066047" y="5074920"/>
            <a:ext cx="255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E8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066047" y="530352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NOT BEEN SHOWN BEFORE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capabilities that did not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 at the last review.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wired end to end — not a screen waiting for a backend.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743200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980944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master plan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346704"/>
            <a:ext cx="3076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182 plotted villas from the sanctioned plan. Click any villa for live sale status, plot area and cluster.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2542032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7674" y="2743200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57674" y="2980944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sales agent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57674" y="3346704"/>
            <a:ext cx="3076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buyers autonomously in English, Telugu and Hindi. Qualifies, books site visits, collects loan documents.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9509" y="2542032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8965" y="2743200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2980944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agent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8965" y="3346704"/>
            <a:ext cx="3076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inbound and outbound calls, transcribes every one, extracts the requirement and raises a lead.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535424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4736592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9743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video pipeline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5340096"/>
            <a:ext cx="3076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 becomes a branded, captioned, archived reel published to four networks without a second click.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8218" y="4535424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7674" y="4736592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57674" y="49743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case management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57674" y="5340096"/>
            <a:ext cx="3076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checklists, Aadhaar/PAN/statement capture, eligibility checks and bank submission tracked per buyer.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9509" y="4535424"/>
            <a:ext cx="3515258" cy="1737360"/>
          </a:xfrm>
          <a:prstGeom prst="roundRect">
            <a:avLst>
              <a:gd name="adj" fmla="val 2105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8965" y="4736592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8965" y="497433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28965" y="5340096"/>
            <a:ext cx="3076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 and twenty permissions, enforced in the database itself — not in the interface where it can be bypassed.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LAYER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agents that work the hours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 cannot.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live. Transcripts, extracted requirements and the leads they raise land in the same CRM your sales team already uses.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651760"/>
            <a:ext cx="5382616" cy="2011680"/>
          </a:xfrm>
          <a:prstGeom prst="roundRect">
            <a:avLst>
              <a:gd name="adj" fmla="val 1818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852928"/>
            <a:ext cx="494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REPLIES 24/7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090672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Sales Agent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456432"/>
            <a:ext cx="4943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“What is the price and layout for a 3BHK villa?”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“The 3BHK follows our 200 sq yd layout — 3 bedrooms, living, dining/kitchen, utility, puja, powder room, lift shaft and parking, plus a study and a terrace room. Would you like to schedule a site visit?”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2152" y="2651760"/>
            <a:ext cx="5382616" cy="2011680"/>
          </a:xfrm>
          <a:prstGeom prst="roundRect">
            <a:avLst>
              <a:gd name="adj" fmla="val 1818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2852928"/>
            <a:ext cx="494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090672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Agent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3456432"/>
            <a:ext cx="4943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logged with caller, time, duration and outcome, then transcribed in full.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extracts the buyer's requirement and raises a lead automatically — nothing waits on someone remembering to write it down.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846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·  Telugu  ·  Hindi  ·  Site-visit booking  ·  Aadhaar, PAN &amp; bank statement capture  ·  Loan eligibility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212080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888736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HANDLED · 30 DAYS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90824" y="5212080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3390824" y="5888736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&amp; TRANSCRIBED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14720" y="5212080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214720" y="5888736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RATE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038615" y="5212080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9038615" y="5888736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SPOKEN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villa on the plan,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its status attached.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numbers and plot areas read from the sanctioned master plan. Status updates the moment an enquiry, booking or block is recorded.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163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399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6634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9870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3105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6340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9576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2811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16047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9282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82517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5753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8988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2224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5459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8694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81930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5165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8401" y="2578608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163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3399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16634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9870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83105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66340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49576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2811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16047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99282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82517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65753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48988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2224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15459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98694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81930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5165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8401" y="2861843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0163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33399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16634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99870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83105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66340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49576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32811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16047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99282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82517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65753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48988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32224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15459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98694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81930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5165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48401" y="3145079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6928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163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33399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16634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99870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83105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66340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49576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2811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16047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99282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82517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65753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248988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32224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15459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98694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81930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65165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48401" y="3428314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66928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0163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33399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16634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99870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983105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66340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49576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32811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16047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99282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82517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965753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48988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32224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15459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98694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81930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65165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948401" y="371155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928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50163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33399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416634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99870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83105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266340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49576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832811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16047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399282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82517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65753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48988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32224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15459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098694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81930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65165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8401" y="3994785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66928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50163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33399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416634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699870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983105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266340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549576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32811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116047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399282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682517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965753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248988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532224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15459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98694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81930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665165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948401" y="4278020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66928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50163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33399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416634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699870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983105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266340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549576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832811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116047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399282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682517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965753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248988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32224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815459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098694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381930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665165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48401" y="4561256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66928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50163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133399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416634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699870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983105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266340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549576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832811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116047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399282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682517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965753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248988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532224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815459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098694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381930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665165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948401" y="4844491"/>
            <a:ext cx="242087" cy="242087"/>
          </a:xfrm>
          <a:prstGeom prst="roundRect">
            <a:avLst>
              <a:gd name="adj" fmla="val 7554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66928" y="5127727"/>
            <a:ext cx="242087" cy="242087"/>
          </a:xfrm>
          <a:prstGeom prst="roundRect">
            <a:avLst>
              <a:gd name="adj" fmla="val 7554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50163" y="5127727"/>
            <a:ext cx="242087" cy="242087"/>
          </a:xfrm>
          <a:prstGeom prst="roundRect">
            <a:avLst>
              <a:gd name="adj" fmla="val 7554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566928" y="552069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is one villa, coloured by its current sales status.</a:t>
            </a:r>
            <a:endParaRPr lang="en-US" sz="1150" dirty="0"/>
          </a:p>
        </p:txBody>
      </p:sp>
      <p:sp>
        <p:nvSpPr>
          <p:cNvPr id="190" name="Text 188"/>
          <p:cNvSpPr txBox="1"/>
          <p:nvPr/>
        </p:nvSpPr>
        <p:spPr>
          <a:xfrm>
            <a:off x="6830568" y="2322576"/>
            <a:ext cx="47941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7000" dirty="0"/>
          </a:p>
        </p:txBody>
      </p:sp>
      <p:sp>
        <p:nvSpPr>
          <p:cNvPr id="191" name="Text 189"/>
          <p:cNvSpPr txBox="1"/>
          <p:nvPr/>
        </p:nvSpPr>
        <p:spPr>
          <a:xfrm>
            <a:off x="6830568" y="3273552"/>
            <a:ext cx="4794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PLOTTED ON THE SANCTIONED PLAN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6830568" y="377647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7A50"/>
          </a:solidFill>
          <a:ln w="12700">
            <a:solidFill>
              <a:srgbClr val="1C7A50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7123176" y="3694176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10893247" y="36941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500" dirty="0"/>
          </a:p>
        </p:txBody>
      </p:sp>
      <p:sp>
        <p:nvSpPr>
          <p:cNvPr id="195" name="Shape 193"/>
          <p:cNvSpPr/>
          <p:nvPr/>
        </p:nvSpPr>
        <p:spPr>
          <a:xfrm>
            <a:off x="6830568" y="4014216"/>
            <a:ext cx="479419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830568" y="4123944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50707F"/>
          </a:solidFill>
          <a:ln w="12700">
            <a:solidFill>
              <a:srgbClr val="50707F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7123176" y="4041648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leads yet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10893247" y="40416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500" dirty="0"/>
          </a:p>
        </p:txBody>
      </p:sp>
      <p:sp>
        <p:nvSpPr>
          <p:cNvPr id="199" name="Shape 197"/>
          <p:cNvSpPr/>
          <p:nvPr/>
        </p:nvSpPr>
        <p:spPr>
          <a:xfrm>
            <a:off x="6830568" y="4361688"/>
            <a:ext cx="479419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830568" y="447141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B3801F"/>
          </a:solidFill>
          <a:ln w="12700">
            <a:solidFill>
              <a:srgbClr val="B3801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7123176" y="4389120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300" dirty="0"/>
          </a:p>
        </p:txBody>
      </p:sp>
      <p:sp>
        <p:nvSpPr>
          <p:cNvPr id="202" name="Text 200"/>
          <p:cNvSpPr txBox="1"/>
          <p:nvPr/>
        </p:nvSpPr>
        <p:spPr>
          <a:xfrm>
            <a:off x="10893247" y="4389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500" dirty="0"/>
          </a:p>
        </p:txBody>
      </p:sp>
      <p:sp>
        <p:nvSpPr>
          <p:cNvPr id="203" name="Shape 201"/>
          <p:cNvSpPr/>
          <p:nvPr/>
        </p:nvSpPr>
        <p:spPr>
          <a:xfrm>
            <a:off x="6830568" y="4709160"/>
            <a:ext cx="479419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830568" y="48188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6E56A8"/>
          </a:solidFill>
          <a:ln w="12700">
            <a:solidFill>
              <a:srgbClr val="6E56A8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7123176" y="4736592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pending</a:t>
            </a:r>
            <a:endParaRPr lang="en-US" sz="1300" dirty="0"/>
          </a:p>
        </p:txBody>
      </p:sp>
      <p:sp>
        <p:nvSpPr>
          <p:cNvPr id="206" name="Text 204"/>
          <p:cNvSpPr txBox="1"/>
          <p:nvPr/>
        </p:nvSpPr>
        <p:spPr>
          <a:xfrm>
            <a:off x="10893247" y="47365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207" name="Shape 205"/>
          <p:cNvSpPr/>
          <p:nvPr/>
        </p:nvSpPr>
        <p:spPr>
          <a:xfrm>
            <a:off x="6830568" y="5056632"/>
            <a:ext cx="479419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830568" y="51663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B04F4F"/>
          </a:solidFill>
          <a:ln w="12700">
            <a:solidFill>
              <a:srgbClr val="B04F4F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7123176" y="5084064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10893247" y="50840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1" name="Shape 209"/>
          <p:cNvSpPr/>
          <p:nvPr/>
        </p:nvSpPr>
        <p:spPr>
          <a:xfrm>
            <a:off x="6830568" y="5404104"/>
            <a:ext cx="479419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830568" y="551383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7E8F87"/>
          </a:solidFill>
          <a:ln w="12700">
            <a:solidFill>
              <a:srgbClr val="7E8F87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7123176" y="5431536"/>
            <a:ext cx="3788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300" dirty="0"/>
          </a:p>
        </p:txBody>
      </p:sp>
      <p:sp>
        <p:nvSpPr>
          <p:cNvPr id="214" name="Text 212"/>
          <p:cNvSpPr txBox="1"/>
          <p:nvPr/>
        </p:nvSpPr>
        <p:spPr>
          <a:xfrm>
            <a:off x="10893247" y="54315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15" name="Shape 213"/>
          <p:cNvSpPr/>
          <p:nvPr/>
        </p:nvSpPr>
        <p:spPr>
          <a:xfrm>
            <a:off x="6830568" y="5751576"/>
            <a:ext cx="479419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6830568" y="5943600"/>
            <a:ext cx="4794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office and the dashboard read the same inventory — the plan shown to a buyer is never behind the sales desk.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once. Four networks,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untouched by hand.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reports success or the exact reason it failed — never a silent drop.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2572436" cy="2286000"/>
          </a:xfrm>
          <a:prstGeom prst="roundRect">
            <a:avLst>
              <a:gd name="adj" fmla="val 1600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761488"/>
            <a:ext cx="420624" cy="420624"/>
          </a:xfrm>
          <a:prstGeom prst="ellipse">
            <a:avLst/>
          </a:prstGeom>
          <a:solidFill>
            <a:srgbClr val="0F2620"/>
          </a:solidFill>
          <a:ln w="12700">
            <a:solidFill>
              <a:srgbClr val="0F2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310128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694176"/>
            <a:ext cx="21335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Watermark, 9:16 reframe, colour grade and brand outro applied automatically.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5396" y="2542032"/>
            <a:ext cx="2572436" cy="2286000"/>
          </a:xfrm>
          <a:prstGeom prst="roundRect">
            <a:avLst>
              <a:gd name="adj" fmla="val 1600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4852" y="2761488"/>
            <a:ext cx="420624" cy="420624"/>
          </a:xfrm>
          <a:prstGeom prst="ellipse">
            <a:avLst/>
          </a:prstGeom>
          <a:solidFill>
            <a:srgbClr val="0F2620"/>
          </a:solidFill>
          <a:ln w="12700">
            <a:solidFill>
              <a:srgbClr val="0F2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4852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14852" y="3310128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14852" y="3694176"/>
            <a:ext cx="21335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file synced to Google Drive before anything publishes, so the original is never lost.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23864" y="2542032"/>
            <a:ext cx="2572436" cy="2286000"/>
          </a:xfrm>
          <a:prstGeom prst="roundRect">
            <a:avLst>
              <a:gd name="adj" fmla="val 1600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2761488"/>
            <a:ext cx="420624" cy="420624"/>
          </a:xfrm>
          <a:prstGeom prst="ellipse">
            <a:avLst/>
          </a:prstGeom>
          <a:solidFill>
            <a:srgbClr val="0F2620"/>
          </a:solidFill>
          <a:ln w="12700">
            <a:solidFill>
              <a:srgbClr val="0F26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332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43320" y="3310128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3320" y="3694176"/>
            <a:ext cx="21335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hooks, hashtags and YouTube SEO tags generated per network — not copy-pasted across.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331" y="2542032"/>
            <a:ext cx="2572436" cy="2286000"/>
          </a:xfrm>
          <a:prstGeom prst="roundRect">
            <a:avLst>
              <a:gd name="adj" fmla="val 1600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1787" y="2761488"/>
            <a:ext cx="420624" cy="420624"/>
          </a:xfrm>
          <a:prstGeom prst="ellipse">
            <a:avLst/>
          </a:prstGeom>
          <a:solidFill>
            <a:srgbClr val="0F2620"/>
          </a:solidFill>
          <a:ln w="12700">
            <a:solidFill>
              <a:srgbClr val="0F26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71787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71787" y="3310128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71787" y="3694176"/>
            <a:ext cx="21335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Instagram, YouTube, Facebook and X, with a delivery confirmation for each.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138928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815584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RATIOS RENDERED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390824" y="5138928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MB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3390824" y="5815584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UPLOAD SIZE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14720" y="5138928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6214720" y="5815584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 NETWORKS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038615" y="5138928"/>
            <a:ext cx="258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038615" y="5815584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REQUIRED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channels, one truth.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network reports what it actually can — nothing is invented to fill a gap. Figures pulled live from Meta, YouTube and LinkedIn.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2572436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72491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926080"/>
            <a:ext cx="2133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@kiwik.one1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182112"/>
            <a:ext cx="21335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694176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· 103 reach · 13 engagements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5396" y="2542032"/>
            <a:ext cx="2572436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4852" y="272491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614852" y="2926080"/>
            <a:ext cx="2133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Kiwik.One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14852" y="3182112"/>
            <a:ext cx="21335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644</a:t>
            </a:r>
            <a:endParaRPr lang="en-US" sz="3300" dirty="0"/>
          </a:p>
        </p:txBody>
      </p:sp>
      <p:sp>
        <p:nvSpPr>
          <p:cNvPr id="16" name="Text 14"/>
          <p:cNvSpPr txBox="1"/>
          <p:nvPr/>
        </p:nvSpPr>
        <p:spPr>
          <a:xfrm>
            <a:off x="3614852" y="3694176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· 96 views · 3 posts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23864" y="2542032"/>
            <a:ext cx="2572436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3320" y="272491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43320" y="2926080"/>
            <a:ext cx="2133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@kiwik-one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3320" y="3182112"/>
            <a:ext cx="21335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300" dirty="0"/>
          </a:p>
        </p:txBody>
      </p:sp>
      <p:sp>
        <p:nvSpPr>
          <p:cNvPr id="21" name="Text 19"/>
          <p:cNvSpPr txBox="1"/>
          <p:nvPr/>
        </p:nvSpPr>
        <p:spPr>
          <a:xfrm>
            <a:off x="6443320" y="3694176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· 5 views · 3 comments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331" y="2542032"/>
            <a:ext cx="2572436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71787" y="2724912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271787" y="2926080"/>
            <a:ext cx="2133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Kiwik.One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271787" y="3182112"/>
            <a:ext cx="21335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300" dirty="0"/>
          </a:p>
        </p:txBody>
      </p:sp>
      <p:sp>
        <p:nvSpPr>
          <p:cNvPr id="26" name="Text 24"/>
          <p:cNvSpPr txBox="1"/>
          <p:nvPr/>
        </p:nvSpPr>
        <p:spPr>
          <a:xfrm>
            <a:off x="9271787" y="3694176"/>
            <a:ext cx="2133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publishing connector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370832"/>
            <a:ext cx="3515258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" y="4572000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heat-map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937760"/>
            <a:ext cx="307634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day and hour, shrunk toward the account mean so one lucky post cannot invent a false hotspot.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38218" y="4370832"/>
            <a:ext cx="3515258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7674" y="4572000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performance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557674" y="4937760"/>
            <a:ext cx="307634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against shorts against stills — average reach per post, so the next brief is decided by evidence.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09509" y="4370832"/>
            <a:ext cx="3515258" cy="1572768"/>
          </a:xfrm>
          <a:prstGeom prst="roundRect">
            <a:avLst>
              <a:gd name="adj" fmla="val 2326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8965" y="4572000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recommendations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28965" y="4937760"/>
            <a:ext cx="307634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Analysers surface what to do next, ordered by severity and confidence-weighted impact.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hubs. One permission model.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customer records is granted deliberately, one person at a time. A user who can sign in still sees nothing until an administrator places them.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3515258" cy="1554480"/>
          </a:xfrm>
          <a:prstGeom prst="roundRect">
            <a:avLst>
              <a:gd name="adj" fmla="val 2353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743200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980944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Centre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346704"/>
            <a:ext cx="30763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pipeline, team workload, SLA thresholds and audit oversight.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2542032"/>
            <a:ext cx="3515258" cy="1554480"/>
          </a:xfrm>
          <a:prstGeom prst="roundRect">
            <a:avLst>
              <a:gd name="adj" fmla="val 2353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7674" y="2743200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QUEUE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57674" y="2980944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Workspace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57674" y="3346704"/>
            <a:ext cx="30763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enquiries, call triggers, WhatsApp threads and the follow-up scheduler.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9509" y="2542032"/>
            <a:ext cx="3515258" cy="1554480"/>
          </a:xfrm>
          <a:prstGeom prst="roundRect">
            <a:avLst>
              <a:gd name="adj" fmla="val 2353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8965" y="2743200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2980944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Pipeline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8965" y="3346704"/>
            <a:ext cx="30763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across visit scheduled, negotiation and token deposit.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3515258" cy="1554480"/>
          </a:xfrm>
          <a:prstGeom prst="roundRect">
            <a:avLst>
              <a:gd name="adj" fmla="val 2353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4553712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79145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Agents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5157216"/>
            <a:ext cx="30763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calling, multilingual scripts and every call transcript.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8218" y="4352544"/>
            <a:ext cx="3515258" cy="1554480"/>
          </a:xfrm>
          <a:prstGeom prst="roundRect">
            <a:avLst>
              <a:gd name="adj" fmla="val 2353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7674" y="4553712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57674" y="479145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Cases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57674" y="5157216"/>
            <a:ext cx="30763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checklists, eligibility verification and bank submissions.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9509" y="4352544"/>
            <a:ext cx="3515258" cy="1554480"/>
          </a:xfrm>
          <a:prstGeom prst="roundRect">
            <a:avLst>
              <a:gd name="adj" fmla="val 2353"/>
            </a:avLst>
          </a:prstGeom>
          <a:solidFill>
            <a:srgbClr val="EFF3F0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8965" y="4553712"/>
            <a:ext cx="307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8965" y="4791456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Messages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28965" y="5157216"/>
            <a:ext cx="30763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threads and department handovers, attachments scoped per tenant.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1447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roles</a:t>
            </a:r>
            <a:pPr indent="0" marL="0">
              <a:buNone/>
            </a:pPr>
            <a:r>
              <a:rPr lang="en-US" sz="135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13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discrete permissions</a:t>
            </a:r>
            <a:pPr indent="0" marL="0">
              <a:buNone/>
            </a:pPr>
            <a:r>
              <a:rPr lang="en-US" sz="135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13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grants</a:t>
            </a:r>
            <a:pPr indent="0" marL="0">
              <a:buNone/>
            </a:pPr>
            <a:r>
              <a:rPr lang="en-US" sz="135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1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storage policies, every one tenant-scoped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0991" y="530352"/>
            <a:ext cx="493776" cy="493776"/>
          </a:xfrm>
          <a:prstGeom prst="ellipse">
            <a:avLst/>
          </a:prstGeom>
          <a:solidFill>
            <a:srgbClr val="A8821A"/>
          </a:solidFill>
          <a:ln w="12700">
            <a:solidFill>
              <a:srgbClr val="A88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0991" y="530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19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BEHIND 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005199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audited,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demonstrated.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39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empty states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75888" y="2139696"/>
            <a:ext cx="7948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there is no data, the screen says so. Nothing is invented to make a dashboard look populated.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33472"/>
            <a:ext cx="1105783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724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confirmation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2724912"/>
            <a:ext cx="7948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 and every message reports success — or the exact reason it failed, in plain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1105783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310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310128"/>
            <a:ext cx="7948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the database. One estate cannot read or delete another's files, even through a bug in the app.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803904"/>
            <a:ext cx="1105783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8953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 audit log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3895344"/>
            <a:ext cx="7948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name the actor who wrote them and cannot be edited or removed afterwards.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389120"/>
            <a:ext cx="1105783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against live APIs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75888" y="4480560"/>
            <a:ext cx="7948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YouTube and LinkedIn credentials tested end to end — not assumed from configuration.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11057839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358384"/>
            <a:ext cx="258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925312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SHIPPED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390824" y="5358384"/>
            <a:ext cx="258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3390824" y="5925312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14720" y="5358384"/>
            <a:ext cx="258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58,260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214720" y="5925312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38615" y="5358384"/>
            <a:ext cx="258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038615" y="5925312"/>
            <a:ext cx="258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140" kern="0" dirty="0">
                <a:solidFill>
                  <a:srgbClr val="7A8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49424"/>
            <a:ext cx="95947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sales, voice, loans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site inventory — in one place.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986784"/>
            <a:ext cx="77659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already run on it: Glentree Serenity and Onyx Apartments. The estate model is not hard-coded to one site — the next project is a configuration, not a rebuild.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5138928"/>
            <a:ext cx="11057839" cy="0"/>
          </a:xfrm>
          <a:prstGeom prst="line">
            <a:avLst/>
          </a:prstGeom>
          <a:noFill/>
          <a:ln w="12700">
            <a:solidFill>
              <a:srgbClr val="2C4A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321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Glentree 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052767" y="5358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glentree-os.vercel.app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Glentree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Glentree OS</dc:title>
  <dc:subject>PptxGenJS Presentation</dc:subject>
  <dc:creator>Glentree</dc:creator>
  <cp:lastModifiedBy>Glentree</cp:lastModifiedBy>
  <cp:revision>1</cp:revision>
  <dcterms:created xsi:type="dcterms:W3CDTF">2026-09-12T11:46:49Z</dcterms:created>
  <dcterms:modified xsi:type="dcterms:W3CDTF">2026-09-12T11:46:49Z</dcterms:modified>
</cp:coreProperties>
</file>