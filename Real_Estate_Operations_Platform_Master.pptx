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professional tone and the overarching platform positioning before any single capability is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the call workflow. An operator enters multiple client phone numbers simultaneously into one input array; the dialing system then sequences them back-to-back in an active live calling queue. Screenshot: the call queue with numbers loaded and statuses advancing.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message queue mechanics. Multiple recipient contacts are loaded into an automated messaging batch and the platform texts them consecutively without manual intervention. Screenshot: the batch composer with its preview block, or the sending queue with delivery confirmations.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Showcase digital property marketing. The agent dispatches rich media into the active number queue: digital brochures, geo-location map coordinates and architectural images of a 4BHK layout. Screenshot: the conversation carrying the brochure card, the location card and the image strip.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operational permissions. The system switches instantly between restricted staff views, agent communication dashboards and administrative configuration windows. Screenshot: the access matrix with role selected, or the refusal a restricted user meets.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Showcase executive analytics. Operational progress graphs, performance metrics and lead response times filter across 7-day, 30-day and 90-day macro views. Screenshot: the dashboard with the range selector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Showcase marketing tools. The centralized Villa Showcase digital inventory matrix alongside the native 'Publish a Video' single-click deployment interface. Screenshot: the showcase master plan with its stat row, or the publish window mid-deployment.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lead management and paid acquisition. Fully updated CRM customer pipeline index cards run alongside live ad campaign click-through trackers and cost analytics. Screenshot: a customer card with its payment meter and booking stages, or the ad performance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master system supervision. The real-time centralized customer messaging inbox acts as the system-wide control center from which administrators track every live campaign and call queue. Screenshot: the control center with accounts beside the access matrix, or the unified inbox.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running today: a video is uploaded to all social channels with an AI-generated caption, description and interactive comment handling. Screenshot: the publish window with all four channels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implementation: the video is uploaded to all social media with an AI-generated caption, description and interactive comment.
Phase 2: a thumbnail is generated and sent to you on Telegram or WhatsApp for verification. If it looks right you accept it; otherwise choose Edit, say what to change, and a new thumbnail comes back. On acceptance it publishes directly, at the screen resolution each social platform expects.
Phase 3: an AI-generated video from a prompt or an idea, with all of the above. Plus a standing automation trigger — for example every Tuesday and Thursday at a set time — which creates an idea and sends it to your Telegram or WhatsApp. Once you agree it generates the video and the thumbnail, sends them back for confirmation, and on your approval publishes to all, or to the selected, social platforms.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Thank the room and leave them with three concrete next steps rather than a generic sign-off.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DFDFD"/>
        </a:solidFill>
      </p:bgPr>
    </p:bg>
    <p:spTree>
      <p:nvGrpSpPr>
        <p:cNvPr id="1" name=""/>
        <p:cNvGrpSpPr/>
        <p:nvPr/>
      </p:nvGrpSpPr>
      <p:grpSpPr>
        <a:xfrm>
          <a:off x="0" y="0"/>
          <a:ext cx="0" cy="0"/>
          <a:chOff x="0" y="0"/>
          <a:chExt cx="0" cy="0"/>
        </a:xfrm>
      </p:grpSpPr>
      <p:sp>
        <p:nvSpPr>
          <p:cNvPr id="2" name="Text 0"/>
          <p:cNvSpPr txBox="1"/>
          <p:nvPr/>
        </p:nvSpPr>
        <p:spPr>
          <a:xfrm>
            <a:off x="822960" y="2011680"/>
            <a:ext cx="10058400" cy="1280160"/>
          </a:xfrm>
          <a:prstGeom prst="rect">
            <a:avLst/>
          </a:prstGeom>
          <a:noFill/>
          <a:ln/>
        </p:spPr>
        <p:txBody>
          <a:bodyPr wrap="square" lIns="0" tIns="0" rIns="0" bIns="0" rtlCol="0" anchor="ctr"/>
          <a:lstStyle/>
          <a:p>
            <a:pPr algn="l" indent="0" marL="0">
              <a:lnSpc>
                <a:spcPct val="106000"/>
              </a:lnSpc>
              <a:buNone/>
            </a:pPr>
            <a:r>
              <a:rPr lang="en-US" sz="4000" b="1" spc="-40" kern="0" dirty="0">
                <a:solidFill>
                  <a:srgbClr val="222222"/>
                </a:solidFill>
                <a:latin typeface="Arial" pitchFamily="34" charset="0"/>
                <a:ea typeface="Arial" pitchFamily="34" charset="-122"/>
                <a:cs typeface="Arial" pitchFamily="34" charset="-120"/>
              </a:rPr>
              <a:t>Enterprise Real Estate</a:t>
            </a:r>
            <a:endParaRPr lang="en-US" sz="4000" dirty="0"/>
          </a:p>
          <a:p>
            <a:pPr algn="l" indent="0" marL="0">
              <a:lnSpc>
                <a:spcPct val="106000"/>
              </a:lnSpc>
              <a:buNone/>
            </a:pPr>
            <a:r>
              <a:rPr lang="en-US" sz="4000" b="1" spc="-40" kern="0" dirty="0">
                <a:solidFill>
                  <a:srgbClr val="222222"/>
                </a:solidFill>
                <a:latin typeface="Arial" pitchFamily="34" charset="0"/>
                <a:ea typeface="Arial" pitchFamily="34" charset="-122"/>
                <a:cs typeface="Arial" pitchFamily="34" charset="-120"/>
              </a:rPr>
              <a:t>Operations Platform</a:t>
            </a:r>
            <a:endParaRPr lang="en-US" sz="4000" dirty="0"/>
          </a:p>
        </p:txBody>
      </p:sp>
      <p:sp>
        <p:nvSpPr>
          <p:cNvPr id="3" name="Text 1"/>
          <p:cNvSpPr txBox="1"/>
          <p:nvPr/>
        </p:nvSpPr>
        <p:spPr>
          <a:xfrm>
            <a:off x="822960" y="4023360"/>
            <a:ext cx="10058400" cy="640080"/>
          </a:xfrm>
          <a:prstGeom prst="rect">
            <a:avLst/>
          </a:prstGeom>
          <a:noFill/>
          <a:ln/>
        </p:spPr>
        <p:txBody>
          <a:bodyPr wrap="square" lIns="0" tIns="0" rIns="0" bIns="0" rtlCol="0" anchor="ctr"/>
          <a:lstStyle/>
          <a:p>
            <a:pPr algn="l" indent="0" marL="0">
              <a:buNone/>
            </a:pPr>
            <a:r>
              <a:rPr lang="en-US" sz="2000" dirty="0">
                <a:solidFill>
                  <a:srgbClr val="3B6E8C"/>
                </a:solidFill>
                <a:latin typeface="Arial" pitchFamily="34" charset="0"/>
                <a:ea typeface="Arial" pitchFamily="34" charset="-122"/>
                <a:cs typeface="Arial" pitchFamily="34" charset="-120"/>
              </a:rPr>
              <a:t>Unified Infrastructure for High-Velocity Lead Engagement</a:t>
            </a:r>
            <a:endParaRPr lang="en-US" sz="2000" dirty="0"/>
          </a:p>
        </p:txBody>
      </p:sp>
      <p:sp>
        <p:nvSpPr>
          <p:cNvPr id="4" name="Text 2"/>
          <p:cNvSpPr txBox="1"/>
          <p:nvPr/>
        </p:nvSpPr>
        <p:spPr>
          <a:xfrm>
            <a:off x="822960" y="6126480"/>
            <a:ext cx="10058400" cy="274320"/>
          </a:xfrm>
          <a:prstGeom prst="rect">
            <a:avLst/>
          </a:prstGeom>
          <a:noFill/>
          <a:ln/>
        </p:spPr>
        <p:txBody>
          <a:bodyPr wrap="square" lIns="0" tIns="0" rIns="0" bIns="0" rtlCol="0" anchor="ctr"/>
          <a:lstStyle/>
          <a:p>
            <a:pPr algn="l" indent="0" marL="0">
              <a:buNone/>
            </a:pPr>
            <a:r>
              <a:rPr lang="en-US" sz="1100" spc="40" kern="0" dirty="0">
                <a:solidFill>
                  <a:srgbClr val="6E7681"/>
                </a:solidFill>
                <a:latin typeface="Arial" pitchFamily="34" charset="0"/>
                <a:ea typeface="Arial" pitchFamily="34" charset="-122"/>
                <a:cs typeface="Arial" pitchFamily="34" charset="-120"/>
              </a:rPr>
              <a:t>Voice calling   ·   WhatsApp outreach   ·   Access governance   ·   Analytics   ·   CRM   ·   Control center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DFD"/>
        </a:solidFill>
      </p:bgPr>
    </p:bg>
    <p:spTree>
      <p:nvGrpSpPr>
        <p:cNvPr id="1" name=""/>
        <p:cNvGrpSpPr/>
        <p:nvPr/>
      </p:nvGrpSpPr>
      <p:grpSpPr>
        <a:xfrm>
          <a:off x="0" y="0"/>
          <a:ext cx="0" cy="0"/>
          <a:chOff x="0" y="0"/>
          <a:chExt cx="0" cy="0"/>
        </a:xfrm>
      </p:grpSpPr>
      <p:sp>
        <p:nvSpPr>
          <p:cNvPr id="2" name="Text 0"/>
          <p:cNvSpPr txBox="1"/>
          <p:nvPr/>
        </p:nvSpPr>
        <p:spPr>
          <a:xfrm>
            <a:off x="685800" y="640080"/>
            <a:ext cx="10820095" cy="777240"/>
          </a:xfrm>
          <a:prstGeom prst="rect">
            <a:avLst/>
          </a:prstGeom>
          <a:noFill/>
          <a:ln/>
        </p:spPr>
        <p:txBody>
          <a:bodyPr wrap="square" lIns="0" tIns="0" rIns="0" bIns="0" rtlCol="0" anchor="b"/>
          <a:lstStyle/>
          <a:p>
            <a:pPr algn="l" indent="0" marL="0">
              <a:buNone/>
            </a:pPr>
            <a:r>
              <a:rPr lang="en-US" sz="3000" b="1" spc="-20" kern="0" dirty="0">
                <a:solidFill>
                  <a:srgbClr val="222222"/>
                </a:solidFill>
                <a:latin typeface="Arial" pitchFamily="34" charset="0"/>
                <a:ea typeface="Arial" pitchFamily="34" charset="-122"/>
                <a:cs typeface="Arial" pitchFamily="34" charset="-120"/>
              </a:rPr>
              <a:t>Automated Voice Queue Execution</a:t>
            </a:r>
            <a:endParaRPr lang="en-US" sz="3000" dirty="0"/>
          </a:p>
        </p:txBody>
      </p:sp>
      <p:sp>
        <p:nvSpPr>
          <p:cNvPr id="3" name="Text 1"/>
          <p:cNvSpPr txBox="1"/>
          <p:nvPr/>
        </p:nvSpPr>
        <p:spPr>
          <a:xfrm>
            <a:off x="685800" y="2148840"/>
            <a:ext cx="4846320" cy="3657600"/>
          </a:xfrm>
          <a:prstGeom prst="rect">
            <a:avLst/>
          </a:prstGeom>
          <a:noFill/>
          <a:ln/>
        </p:spPr>
        <p:txBody>
          <a:bodyPr wrap="square" lIns="0" tIns="0" rIns="0" bIns="0" rtlCol="0" anchor="ctr"/>
          <a:lstStyle/>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Paste an entire list of client numbers into a single input.</a:t>
            </a:r>
            <a:endParaRPr lang="en-US" sz="1500" dirty="0"/>
          </a:p>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The dialer works down the queue back-to-back, with no manual redialing.</a:t>
            </a:r>
            <a:endParaRPr lang="en-US" sz="1500" dirty="0"/>
          </a:p>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Each number carries a live status: waiting, on the call, reached, or retrying.</a:t>
            </a:r>
            <a:endParaRPr lang="en-US" sz="1500" dirty="0"/>
          </a:p>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Calls go out only inside the hours you set.</a:t>
            </a:r>
            <a:endParaRPr lang="en-US" sz="1500" dirty="0"/>
          </a:p>
        </p:txBody>
      </p:sp>
      <p:sp>
        <p:nvSpPr>
          <p:cNvPr id="4" name="Shape 2"/>
          <p:cNvSpPr/>
          <p:nvPr/>
        </p:nvSpPr>
        <p:spPr>
          <a:xfrm>
            <a:off x="6183173" y="2499518"/>
            <a:ext cx="5336438" cy="2956244"/>
          </a:xfrm>
          <a:prstGeom prst="rect">
            <a:avLst/>
          </a:prstGeom>
          <a:solidFill>
            <a:srgbClr val="C7D0D8"/>
          </a:solidFill>
          <a:ln w="9525">
            <a:solidFill>
              <a:srgbClr val="C7D0D8"/>
            </a:solidFill>
            <a:prstDash val="solid"/>
          </a:ln>
        </p:spPr>
      </p:sp>
      <p:pic>
        <p:nvPicPr>
          <p:cNvPr id="5" name="Image 0" descr="/private/tmp/claude-501/-Users-koushikgoudshaganti-Desktop-Agency-Villa-dash/b4a776ba-42fb-4119-9643-4f2864aa45d3/scratchpad/deck/shots/slide-02.png">    </p:cNvPr>
          <p:cNvPicPr>
            <a:picLocks noChangeAspect="1"/>
          </p:cNvPicPr>
          <p:nvPr/>
        </p:nvPicPr>
        <p:blipFill>
          <a:blip r:embed="rId1"/>
          <a:stretch>
            <a:fillRect/>
          </a:stretch>
        </p:blipFill>
        <p:spPr>
          <a:xfrm>
            <a:off x="6199632" y="2515977"/>
            <a:ext cx="5303520" cy="2923326"/>
          </a:xfrm>
          <a:prstGeom prst="rect">
            <a:avLst/>
          </a:prstGeom>
        </p:spPr>
      </p:pic>
      <p:sp>
        <p:nvSpPr>
          <p:cNvPr id="6" name="Text 3"/>
          <p:cNvSpPr txBox="1"/>
          <p:nvPr/>
        </p:nvSpPr>
        <p:spPr>
          <a:xfrm>
            <a:off x="685800" y="6126480"/>
            <a:ext cx="7315200" cy="274320"/>
          </a:xfrm>
          <a:prstGeom prst="rect">
            <a:avLst/>
          </a:prstGeom>
          <a:noFill/>
          <a:ln/>
        </p:spPr>
        <p:txBody>
          <a:bodyPr wrap="square" lIns="0" tIns="0" rIns="0" bIns="0" rtlCol="0" anchor="ctr"/>
          <a:lstStyle/>
          <a:p>
            <a:pPr algn="l" indent="0" marL="0">
              <a:buNone/>
            </a:pPr>
            <a:r>
              <a:rPr lang="en-US" sz="1000" spc="60" kern="0" dirty="0">
                <a:solidFill>
                  <a:srgbClr val="6E7681"/>
                </a:solidFill>
                <a:latin typeface="Arial" pitchFamily="34" charset="0"/>
                <a:ea typeface="Arial" pitchFamily="34" charset="-122"/>
                <a:cs typeface="Arial" pitchFamily="34" charset="-120"/>
              </a:rPr>
              <a:t>Queue-based voice calling</a:t>
            </a:r>
            <a:endParaRPr lang="en-US" sz="1000" dirty="0"/>
          </a:p>
        </p:txBody>
      </p:sp>
      <p:sp>
        <p:nvSpPr>
          <p:cNvPr id="7" name="Text 4"/>
          <p:cNvSpPr txBox="1"/>
          <p:nvPr/>
        </p:nvSpPr>
        <p:spPr>
          <a:xfrm>
            <a:off x="10591495" y="6126480"/>
            <a:ext cx="914400" cy="274320"/>
          </a:xfrm>
          <a:prstGeom prst="rect">
            <a:avLst/>
          </a:prstGeom>
          <a:noFill/>
          <a:ln/>
        </p:spPr>
        <p:txBody>
          <a:bodyPr wrap="square" lIns="0" tIns="0" rIns="0" bIns="0" rtlCol="0" anchor="ctr"/>
          <a:lstStyle/>
          <a:p>
            <a:pPr algn="r" indent="0" marL="0">
              <a:buNone/>
            </a:pPr>
            <a:r>
              <a:rPr lang="en-US" sz="1000" dirty="0">
                <a:solidFill>
                  <a:srgbClr val="6E7681"/>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DFD"/>
        </a:solidFill>
      </p:bgPr>
    </p:bg>
    <p:spTree>
      <p:nvGrpSpPr>
        <p:cNvPr id="1" name=""/>
        <p:cNvGrpSpPr/>
        <p:nvPr/>
      </p:nvGrpSpPr>
      <p:grpSpPr>
        <a:xfrm>
          <a:off x="0" y="0"/>
          <a:ext cx="0" cy="0"/>
          <a:chOff x="0" y="0"/>
          <a:chExt cx="0" cy="0"/>
        </a:xfrm>
      </p:grpSpPr>
      <p:sp>
        <p:nvSpPr>
          <p:cNvPr id="2" name="Text 0"/>
          <p:cNvSpPr txBox="1"/>
          <p:nvPr/>
        </p:nvSpPr>
        <p:spPr>
          <a:xfrm>
            <a:off x="685800" y="640080"/>
            <a:ext cx="10820095" cy="777240"/>
          </a:xfrm>
          <a:prstGeom prst="rect">
            <a:avLst/>
          </a:prstGeom>
          <a:noFill/>
          <a:ln/>
        </p:spPr>
        <p:txBody>
          <a:bodyPr wrap="square" lIns="0" tIns="0" rIns="0" bIns="0" rtlCol="0" anchor="b"/>
          <a:lstStyle/>
          <a:p>
            <a:pPr algn="l" indent="0" marL="0">
              <a:buNone/>
            </a:pPr>
            <a:r>
              <a:rPr lang="en-US" sz="3000" b="1" spc="-20" kern="0" dirty="0">
                <a:solidFill>
                  <a:srgbClr val="222222"/>
                </a:solidFill>
                <a:latin typeface="Arial" pitchFamily="34" charset="0"/>
                <a:ea typeface="Arial" pitchFamily="34" charset="-122"/>
                <a:cs typeface="Arial" pitchFamily="34" charset="-120"/>
              </a:rPr>
              <a:t>Automated WhatsApp Outreach Pipeline</a:t>
            </a:r>
            <a:endParaRPr lang="en-US" sz="3000" dirty="0"/>
          </a:p>
        </p:txBody>
      </p:sp>
      <p:sp>
        <p:nvSpPr>
          <p:cNvPr id="3" name="Text 1"/>
          <p:cNvSpPr txBox="1"/>
          <p:nvPr/>
        </p:nvSpPr>
        <p:spPr>
          <a:xfrm>
            <a:off x="685800" y="2148840"/>
            <a:ext cx="4846320" cy="3657600"/>
          </a:xfrm>
          <a:prstGeom prst="rect">
            <a:avLst/>
          </a:prstGeom>
          <a:noFill/>
          <a:ln/>
        </p:spPr>
        <p:txBody>
          <a:bodyPr wrap="square" lIns="0" tIns="0" rIns="0" bIns="0" rtlCol="0" anchor="ctr"/>
          <a:lstStyle/>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Load an entire recipient batch in one paste, names included.</a:t>
            </a:r>
            <a:endParaRPr lang="en-US" sz="1500" dirty="0"/>
          </a:p>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Preview the exact message every contact receives before anything sends.</a:t>
            </a:r>
            <a:endParaRPr lang="en-US" sz="1500" dirty="0"/>
          </a:p>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The agent texts them consecutively, spaced apart, with no manual sending.</a:t>
            </a:r>
            <a:endParaRPr lang="en-US" sz="1500" dirty="0"/>
          </a:p>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Delivery is confirmed per recipient and counted against the batch.</a:t>
            </a:r>
            <a:endParaRPr lang="en-US" sz="1500" dirty="0"/>
          </a:p>
        </p:txBody>
      </p:sp>
      <p:sp>
        <p:nvSpPr>
          <p:cNvPr id="4" name="Shape 2"/>
          <p:cNvSpPr/>
          <p:nvPr/>
        </p:nvSpPr>
        <p:spPr>
          <a:xfrm>
            <a:off x="6183173" y="2629918"/>
            <a:ext cx="5336438" cy="2695443"/>
          </a:xfrm>
          <a:prstGeom prst="rect">
            <a:avLst/>
          </a:prstGeom>
          <a:solidFill>
            <a:srgbClr val="C7D0D8"/>
          </a:solidFill>
          <a:ln w="9525">
            <a:solidFill>
              <a:srgbClr val="C7D0D8"/>
            </a:solidFill>
            <a:prstDash val="solid"/>
          </a:ln>
        </p:spPr>
      </p:sp>
      <p:pic>
        <p:nvPicPr>
          <p:cNvPr id="5" name="Image 0" descr="/private/tmp/claude-501/-Users-koushikgoudshaganti-Desktop-Agency-Villa-dash/b4a776ba-42fb-4119-9643-4f2864aa45d3/scratchpad/deck/shots/slide-03.png">    </p:cNvPr>
          <p:cNvPicPr>
            <a:picLocks noChangeAspect="1"/>
          </p:cNvPicPr>
          <p:nvPr/>
        </p:nvPicPr>
        <p:blipFill>
          <a:blip r:embed="rId1"/>
          <a:stretch>
            <a:fillRect/>
          </a:stretch>
        </p:blipFill>
        <p:spPr>
          <a:xfrm>
            <a:off x="6199632" y="2646378"/>
            <a:ext cx="5303520" cy="2662525"/>
          </a:xfrm>
          <a:prstGeom prst="rect">
            <a:avLst/>
          </a:prstGeom>
        </p:spPr>
      </p:pic>
      <p:sp>
        <p:nvSpPr>
          <p:cNvPr id="6" name="Text 3"/>
          <p:cNvSpPr txBox="1"/>
          <p:nvPr/>
        </p:nvSpPr>
        <p:spPr>
          <a:xfrm>
            <a:off x="685800" y="6126480"/>
            <a:ext cx="7315200" cy="274320"/>
          </a:xfrm>
          <a:prstGeom prst="rect">
            <a:avLst/>
          </a:prstGeom>
          <a:noFill/>
          <a:ln/>
        </p:spPr>
        <p:txBody>
          <a:bodyPr wrap="square" lIns="0" tIns="0" rIns="0" bIns="0" rtlCol="0" anchor="ctr"/>
          <a:lstStyle/>
          <a:p>
            <a:pPr algn="l" indent="0" marL="0">
              <a:buNone/>
            </a:pPr>
            <a:r>
              <a:rPr lang="en-US" sz="1000" spc="60" kern="0" dirty="0">
                <a:solidFill>
                  <a:srgbClr val="6E7681"/>
                </a:solidFill>
                <a:latin typeface="Arial" pitchFamily="34" charset="0"/>
                <a:ea typeface="Arial" pitchFamily="34" charset="-122"/>
                <a:cs typeface="Arial" pitchFamily="34" charset="-120"/>
              </a:rPr>
              <a:t>Multi-recipient messaging</a:t>
            </a:r>
            <a:endParaRPr lang="en-US" sz="1000" dirty="0"/>
          </a:p>
        </p:txBody>
      </p:sp>
      <p:sp>
        <p:nvSpPr>
          <p:cNvPr id="7" name="Text 4"/>
          <p:cNvSpPr txBox="1"/>
          <p:nvPr/>
        </p:nvSpPr>
        <p:spPr>
          <a:xfrm>
            <a:off x="10591495" y="6126480"/>
            <a:ext cx="914400" cy="274320"/>
          </a:xfrm>
          <a:prstGeom prst="rect">
            <a:avLst/>
          </a:prstGeom>
          <a:noFill/>
          <a:ln/>
        </p:spPr>
        <p:txBody>
          <a:bodyPr wrap="square" lIns="0" tIns="0" rIns="0" bIns="0" rtlCol="0" anchor="ctr"/>
          <a:lstStyle/>
          <a:p>
            <a:pPr algn="r" indent="0" marL="0">
              <a:buNone/>
            </a:pPr>
            <a:r>
              <a:rPr lang="en-US" sz="1000" dirty="0">
                <a:solidFill>
                  <a:srgbClr val="6E7681"/>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DFD"/>
        </a:solidFill>
      </p:bgPr>
    </p:bg>
    <p:spTree>
      <p:nvGrpSpPr>
        <p:cNvPr id="1" name=""/>
        <p:cNvGrpSpPr/>
        <p:nvPr/>
      </p:nvGrpSpPr>
      <p:grpSpPr>
        <a:xfrm>
          <a:off x="0" y="0"/>
          <a:ext cx="0" cy="0"/>
          <a:chOff x="0" y="0"/>
          <a:chExt cx="0" cy="0"/>
        </a:xfrm>
      </p:grpSpPr>
      <p:sp>
        <p:nvSpPr>
          <p:cNvPr id="2" name="Text 0"/>
          <p:cNvSpPr txBox="1"/>
          <p:nvPr/>
        </p:nvSpPr>
        <p:spPr>
          <a:xfrm>
            <a:off x="685800" y="640080"/>
            <a:ext cx="10820095" cy="777240"/>
          </a:xfrm>
          <a:prstGeom prst="rect">
            <a:avLst/>
          </a:prstGeom>
          <a:noFill/>
          <a:ln/>
        </p:spPr>
        <p:txBody>
          <a:bodyPr wrap="square" lIns="0" tIns="0" rIns="0" bIns="0" rtlCol="0" anchor="b"/>
          <a:lstStyle/>
          <a:p>
            <a:pPr algn="l" indent="0" marL="0">
              <a:buNone/>
            </a:pPr>
            <a:r>
              <a:rPr lang="en-US" sz="3000" b="1" spc="-20" kern="0" dirty="0">
                <a:solidFill>
                  <a:srgbClr val="222222"/>
                </a:solidFill>
                <a:latin typeface="Arial" pitchFamily="34" charset="0"/>
                <a:ea typeface="Arial" pitchFamily="34" charset="-122"/>
                <a:cs typeface="Arial" pitchFamily="34" charset="-120"/>
              </a:rPr>
              <a:t>Luxury 4BHK Villa Asset Delivery</a:t>
            </a:r>
            <a:endParaRPr lang="en-US" sz="3000" dirty="0"/>
          </a:p>
        </p:txBody>
      </p:sp>
      <p:sp>
        <p:nvSpPr>
          <p:cNvPr id="3" name="Text 1"/>
          <p:cNvSpPr txBox="1"/>
          <p:nvPr/>
        </p:nvSpPr>
        <p:spPr>
          <a:xfrm>
            <a:off x="685800" y="2148840"/>
            <a:ext cx="4846320" cy="3657600"/>
          </a:xfrm>
          <a:prstGeom prst="rect">
            <a:avLst/>
          </a:prstGeom>
          <a:noFill/>
          <a:ln/>
        </p:spPr>
        <p:txBody>
          <a:bodyPr wrap="square" lIns="0" tIns="0" rIns="0" bIns="0" rtlCol="0" anchor="ctr"/>
          <a:lstStyle/>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The agent answers a 4BHK enquiry with the live configuration and price.</a:t>
            </a:r>
            <a:endParaRPr lang="en-US" sz="1500" dirty="0"/>
          </a:p>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It sends the digital brochure straight into the conversation.</a:t>
            </a:r>
            <a:endParaRPr lang="en-US" sz="1500" dirty="0"/>
          </a:p>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It drops the exact site location as a map card.</a:t>
            </a:r>
            <a:endParaRPr lang="en-US" sz="1500" dirty="0"/>
          </a:p>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Architectural imagery of the 4BHK layout follows in the same thread.</a:t>
            </a:r>
            <a:endParaRPr lang="en-US" sz="1500" dirty="0"/>
          </a:p>
        </p:txBody>
      </p:sp>
      <p:sp>
        <p:nvSpPr>
          <p:cNvPr id="4" name="Shape 2"/>
          <p:cNvSpPr/>
          <p:nvPr/>
        </p:nvSpPr>
        <p:spPr>
          <a:xfrm>
            <a:off x="6923907" y="2469566"/>
            <a:ext cx="3854970" cy="3016148"/>
          </a:xfrm>
          <a:prstGeom prst="rect">
            <a:avLst/>
          </a:prstGeom>
          <a:solidFill>
            <a:srgbClr val="C7D0D8"/>
          </a:solidFill>
          <a:ln w="9525">
            <a:solidFill>
              <a:srgbClr val="C7D0D8"/>
            </a:solidFill>
            <a:prstDash val="solid"/>
          </a:ln>
        </p:spPr>
      </p:sp>
      <p:pic>
        <p:nvPicPr>
          <p:cNvPr id="5" name="Image 0" descr="/private/tmp/claude-501/-Users-koushikgoudshaganti-Desktop-Agency-Villa-dash/b4a776ba-42fb-4119-9643-4f2864aa45d3/scratchpad/deck/shots/slide-04.png">    </p:cNvPr>
          <p:cNvPicPr>
            <a:picLocks noChangeAspect="1"/>
          </p:cNvPicPr>
          <p:nvPr/>
        </p:nvPicPr>
        <p:blipFill>
          <a:blip r:embed="rId1"/>
          <a:stretch>
            <a:fillRect/>
          </a:stretch>
        </p:blipFill>
        <p:spPr>
          <a:xfrm>
            <a:off x="6940366" y="2486025"/>
            <a:ext cx="3822052" cy="2983230"/>
          </a:xfrm>
          <a:prstGeom prst="rect">
            <a:avLst/>
          </a:prstGeom>
        </p:spPr>
      </p:pic>
      <p:sp>
        <p:nvSpPr>
          <p:cNvPr id="6" name="Text 3"/>
          <p:cNvSpPr txBox="1"/>
          <p:nvPr/>
        </p:nvSpPr>
        <p:spPr>
          <a:xfrm>
            <a:off x="685800" y="6126480"/>
            <a:ext cx="7315200" cy="274320"/>
          </a:xfrm>
          <a:prstGeom prst="rect">
            <a:avLst/>
          </a:prstGeom>
          <a:noFill/>
          <a:ln/>
        </p:spPr>
        <p:txBody>
          <a:bodyPr wrap="square" lIns="0" tIns="0" rIns="0" bIns="0" rtlCol="0" anchor="ctr"/>
          <a:lstStyle/>
          <a:p>
            <a:pPr algn="l" indent="0" marL="0">
              <a:buNone/>
            </a:pPr>
            <a:r>
              <a:rPr lang="en-US" sz="1000" spc="60" kern="0" dirty="0">
                <a:solidFill>
                  <a:srgbClr val="6E7681"/>
                </a:solidFill>
                <a:latin typeface="Arial" pitchFamily="34" charset="0"/>
                <a:ea typeface="Arial" pitchFamily="34" charset="-122"/>
                <a:cs typeface="Arial" pitchFamily="34" charset="-120"/>
              </a:rPr>
              <a:t>Rich media dispatch</a:t>
            </a:r>
            <a:endParaRPr lang="en-US" sz="1000" dirty="0"/>
          </a:p>
        </p:txBody>
      </p:sp>
      <p:sp>
        <p:nvSpPr>
          <p:cNvPr id="7" name="Text 4"/>
          <p:cNvSpPr txBox="1"/>
          <p:nvPr/>
        </p:nvSpPr>
        <p:spPr>
          <a:xfrm>
            <a:off x="10591495" y="6126480"/>
            <a:ext cx="914400" cy="274320"/>
          </a:xfrm>
          <a:prstGeom prst="rect">
            <a:avLst/>
          </a:prstGeom>
          <a:noFill/>
          <a:ln/>
        </p:spPr>
        <p:txBody>
          <a:bodyPr wrap="square" lIns="0" tIns="0" rIns="0" bIns="0" rtlCol="0" anchor="ctr"/>
          <a:lstStyle/>
          <a:p>
            <a:pPr algn="r" indent="0" marL="0">
              <a:buNone/>
            </a:pPr>
            <a:r>
              <a:rPr lang="en-US" sz="1000" dirty="0">
                <a:solidFill>
                  <a:srgbClr val="6E7681"/>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DFD"/>
        </a:solidFill>
      </p:bgPr>
    </p:bg>
    <p:spTree>
      <p:nvGrpSpPr>
        <p:cNvPr id="1" name=""/>
        <p:cNvGrpSpPr/>
        <p:nvPr/>
      </p:nvGrpSpPr>
      <p:grpSpPr>
        <a:xfrm>
          <a:off x="0" y="0"/>
          <a:ext cx="0" cy="0"/>
          <a:chOff x="0" y="0"/>
          <a:chExt cx="0" cy="0"/>
        </a:xfrm>
      </p:grpSpPr>
      <p:sp>
        <p:nvSpPr>
          <p:cNvPr id="2" name="Text 0"/>
          <p:cNvSpPr txBox="1"/>
          <p:nvPr/>
        </p:nvSpPr>
        <p:spPr>
          <a:xfrm>
            <a:off x="685800" y="640080"/>
            <a:ext cx="10820095" cy="777240"/>
          </a:xfrm>
          <a:prstGeom prst="rect">
            <a:avLst/>
          </a:prstGeom>
          <a:noFill/>
          <a:ln/>
        </p:spPr>
        <p:txBody>
          <a:bodyPr wrap="square" lIns="0" tIns="0" rIns="0" bIns="0" rtlCol="0" anchor="b"/>
          <a:lstStyle/>
          <a:p>
            <a:pPr algn="l" indent="0" marL="0">
              <a:buNone/>
            </a:pPr>
            <a:r>
              <a:rPr lang="en-US" sz="3000" b="1" spc="-20" kern="0" dirty="0">
                <a:solidFill>
                  <a:srgbClr val="222222"/>
                </a:solidFill>
                <a:latin typeface="Arial" pitchFamily="34" charset="0"/>
                <a:ea typeface="Arial" pitchFamily="34" charset="-122"/>
                <a:cs typeface="Arial" pitchFamily="34" charset="-120"/>
              </a:rPr>
              <a:t>Security &amp; Access Governance (RBAC)</a:t>
            </a:r>
            <a:endParaRPr lang="en-US" sz="3000" dirty="0"/>
          </a:p>
        </p:txBody>
      </p:sp>
      <p:sp>
        <p:nvSpPr>
          <p:cNvPr id="3" name="Text 1"/>
          <p:cNvSpPr txBox="1"/>
          <p:nvPr/>
        </p:nvSpPr>
        <p:spPr>
          <a:xfrm>
            <a:off x="685800" y="2148840"/>
            <a:ext cx="4846320" cy="3657600"/>
          </a:xfrm>
          <a:prstGeom prst="rect">
            <a:avLst/>
          </a:prstGeom>
          <a:noFill/>
          <a:ln/>
        </p:spPr>
        <p:txBody>
          <a:bodyPr wrap="square" lIns="0" tIns="0" rIns="0" bIns="0" rtlCol="0" anchor="ctr"/>
          <a:lstStyle/>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Every area of the platform is a switch, grouped by the decision it represents.</a:t>
            </a:r>
            <a:endParaRPr lang="en-US" sz="1500" dirty="0"/>
          </a:p>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Switch an area off for a role and it leaves that person's view entirely.</a:t>
            </a:r>
            <a:endParaRPr lang="en-US" sz="1500" dirty="0"/>
          </a:p>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Restricted staff, agent dashboards and administrative windows stay separate.</a:t>
            </a:r>
            <a:endParaRPr lang="en-US" sz="1500" dirty="0"/>
          </a:p>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Permission changes take effect immediately, for everyone.</a:t>
            </a:r>
            <a:endParaRPr lang="en-US" sz="1500" dirty="0"/>
          </a:p>
        </p:txBody>
      </p:sp>
      <p:sp>
        <p:nvSpPr>
          <p:cNvPr id="4" name="Shape 2"/>
          <p:cNvSpPr/>
          <p:nvPr/>
        </p:nvSpPr>
        <p:spPr>
          <a:xfrm>
            <a:off x="6183173" y="2482921"/>
            <a:ext cx="5336438" cy="2989438"/>
          </a:xfrm>
          <a:prstGeom prst="rect">
            <a:avLst/>
          </a:prstGeom>
          <a:solidFill>
            <a:srgbClr val="C7D0D8"/>
          </a:solidFill>
          <a:ln w="9525">
            <a:solidFill>
              <a:srgbClr val="C7D0D8"/>
            </a:solidFill>
            <a:prstDash val="solid"/>
          </a:ln>
        </p:spPr>
      </p:sp>
      <p:pic>
        <p:nvPicPr>
          <p:cNvPr id="5" name="Image 0" descr="/private/tmp/claude-501/-Users-koushikgoudshaganti-Desktop-Agency-Villa-dash/b4a776ba-42fb-4119-9643-4f2864aa45d3/scratchpad/deck/shots/slide-05.png">    </p:cNvPr>
          <p:cNvPicPr>
            <a:picLocks noChangeAspect="1"/>
          </p:cNvPicPr>
          <p:nvPr/>
        </p:nvPicPr>
        <p:blipFill>
          <a:blip r:embed="rId1"/>
          <a:stretch>
            <a:fillRect/>
          </a:stretch>
        </p:blipFill>
        <p:spPr>
          <a:xfrm>
            <a:off x="6199632" y="2499380"/>
            <a:ext cx="5303520" cy="2956520"/>
          </a:xfrm>
          <a:prstGeom prst="rect">
            <a:avLst/>
          </a:prstGeom>
        </p:spPr>
      </p:pic>
      <p:sp>
        <p:nvSpPr>
          <p:cNvPr id="6" name="Text 3"/>
          <p:cNvSpPr txBox="1"/>
          <p:nvPr/>
        </p:nvSpPr>
        <p:spPr>
          <a:xfrm>
            <a:off x="685800" y="6126480"/>
            <a:ext cx="7315200" cy="274320"/>
          </a:xfrm>
          <a:prstGeom prst="rect">
            <a:avLst/>
          </a:prstGeom>
          <a:noFill/>
          <a:ln/>
        </p:spPr>
        <p:txBody>
          <a:bodyPr wrap="square" lIns="0" tIns="0" rIns="0" bIns="0" rtlCol="0" anchor="ctr"/>
          <a:lstStyle/>
          <a:p>
            <a:pPr algn="l" indent="0" marL="0">
              <a:buNone/>
            </a:pPr>
            <a:r>
              <a:rPr lang="en-US" sz="1000" spc="60" kern="0" dirty="0">
                <a:solidFill>
                  <a:srgbClr val="6E7681"/>
                </a:solidFill>
                <a:latin typeface="Arial" pitchFamily="34" charset="0"/>
                <a:ea typeface="Arial" pitchFamily="34" charset="-122"/>
                <a:cs typeface="Arial" pitchFamily="34" charset="-120"/>
              </a:rPr>
              <a:t>Role-based access control</a:t>
            </a:r>
            <a:endParaRPr lang="en-US" sz="1000" dirty="0"/>
          </a:p>
        </p:txBody>
      </p:sp>
      <p:sp>
        <p:nvSpPr>
          <p:cNvPr id="7" name="Text 4"/>
          <p:cNvSpPr txBox="1"/>
          <p:nvPr/>
        </p:nvSpPr>
        <p:spPr>
          <a:xfrm>
            <a:off x="10591495" y="6126480"/>
            <a:ext cx="914400" cy="274320"/>
          </a:xfrm>
          <a:prstGeom prst="rect">
            <a:avLst/>
          </a:prstGeom>
          <a:noFill/>
          <a:ln/>
        </p:spPr>
        <p:txBody>
          <a:bodyPr wrap="square" lIns="0" tIns="0" rIns="0" bIns="0" rtlCol="0" anchor="ctr"/>
          <a:lstStyle/>
          <a:p>
            <a:pPr algn="r" indent="0" marL="0">
              <a:buNone/>
            </a:pPr>
            <a:r>
              <a:rPr lang="en-US" sz="1000" dirty="0">
                <a:solidFill>
                  <a:srgbClr val="6E7681"/>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DFD"/>
        </a:solidFill>
      </p:bgPr>
    </p:bg>
    <p:spTree>
      <p:nvGrpSpPr>
        <p:cNvPr id="1" name=""/>
        <p:cNvGrpSpPr/>
        <p:nvPr/>
      </p:nvGrpSpPr>
      <p:grpSpPr>
        <a:xfrm>
          <a:off x="0" y="0"/>
          <a:ext cx="0" cy="0"/>
          <a:chOff x="0" y="0"/>
          <a:chExt cx="0" cy="0"/>
        </a:xfrm>
      </p:grpSpPr>
      <p:sp>
        <p:nvSpPr>
          <p:cNvPr id="2" name="Text 0"/>
          <p:cNvSpPr txBox="1"/>
          <p:nvPr/>
        </p:nvSpPr>
        <p:spPr>
          <a:xfrm>
            <a:off x="685800" y="640080"/>
            <a:ext cx="10820095" cy="777240"/>
          </a:xfrm>
          <a:prstGeom prst="rect">
            <a:avLst/>
          </a:prstGeom>
          <a:noFill/>
          <a:ln/>
        </p:spPr>
        <p:txBody>
          <a:bodyPr wrap="square" lIns="0" tIns="0" rIns="0" bIns="0" rtlCol="0" anchor="b"/>
          <a:lstStyle/>
          <a:p>
            <a:pPr algn="l" indent="0" marL="0">
              <a:buNone/>
            </a:pPr>
            <a:r>
              <a:rPr lang="en-US" sz="3000" b="1" spc="-20" kern="0" dirty="0">
                <a:solidFill>
                  <a:srgbClr val="222222"/>
                </a:solidFill>
                <a:latin typeface="Arial" pitchFamily="34" charset="0"/>
                <a:ea typeface="Arial" pitchFamily="34" charset="-122"/>
                <a:cs typeface="Arial" pitchFamily="34" charset="-120"/>
              </a:rPr>
              <a:t>Performance Tracking &amp; Timeline Metrics</a:t>
            </a:r>
            <a:endParaRPr lang="en-US" sz="3000" dirty="0"/>
          </a:p>
        </p:txBody>
      </p:sp>
      <p:sp>
        <p:nvSpPr>
          <p:cNvPr id="3" name="Text 1"/>
          <p:cNvSpPr txBox="1"/>
          <p:nvPr/>
        </p:nvSpPr>
        <p:spPr>
          <a:xfrm>
            <a:off x="685800" y="2148840"/>
            <a:ext cx="4846320" cy="3657600"/>
          </a:xfrm>
          <a:prstGeom prst="rect">
            <a:avLst/>
          </a:prstGeom>
          <a:noFill/>
          <a:ln/>
        </p:spPr>
        <p:txBody>
          <a:bodyPr wrap="square" lIns="0" tIns="0" rIns="0" bIns="0" rtlCol="0" anchor="ctr"/>
          <a:lstStyle/>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One executive view: reach, engagement, spend, return and cost per conversion.</a:t>
            </a:r>
            <a:endParaRPr lang="en-US" sz="1500" dirty="0"/>
          </a:p>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Switch the whole screen between 7-day, 30-day and 90-day windows.</a:t>
            </a:r>
            <a:endParaRPr lang="en-US" sz="1500" dirty="0"/>
          </a:p>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Every figure and every graph re-reads itself against the window you choose.</a:t>
            </a:r>
            <a:endParaRPr lang="en-US" sz="1500" dirty="0"/>
          </a:p>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A written summary states what happened and what to act on next.</a:t>
            </a:r>
            <a:endParaRPr lang="en-US" sz="1500" dirty="0"/>
          </a:p>
        </p:txBody>
      </p:sp>
      <p:sp>
        <p:nvSpPr>
          <p:cNvPr id="4" name="Shape 2"/>
          <p:cNvSpPr/>
          <p:nvPr/>
        </p:nvSpPr>
        <p:spPr>
          <a:xfrm>
            <a:off x="6183173" y="2728141"/>
            <a:ext cx="5336438" cy="2498997"/>
          </a:xfrm>
          <a:prstGeom prst="rect">
            <a:avLst/>
          </a:prstGeom>
          <a:solidFill>
            <a:srgbClr val="C7D0D8"/>
          </a:solidFill>
          <a:ln w="9525">
            <a:solidFill>
              <a:srgbClr val="C7D0D8"/>
            </a:solidFill>
            <a:prstDash val="solid"/>
          </a:ln>
        </p:spPr>
      </p:sp>
      <p:pic>
        <p:nvPicPr>
          <p:cNvPr id="5" name="Image 0" descr="/private/tmp/claude-501/-Users-koushikgoudshaganti-Desktop-Agency-Villa-dash/b4a776ba-42fb-4119-9643-4f2864aa45d3/scratchpad/deck/shots/slide-06.png">    </p:cNvPr>
          <p:cNvPicPr>
            <a:picLocks noChangeAspect="1"/>
          </p:cNvPicPr>
          <p:nvPr/>
        </p:nvPicPr>
        <p:blipFill>
          <a:blip r:embed="rId1"/>
          <a:stretch>
            <a:fillRect/>
          </a:stretch>
        </p:blipFill>
        <p:spPr>
          <a:xfrm>
            <a:off x="6199632" y="2744601"/>
            <a:ext cx="5303520" cy="2466079"/>
          </a:xfrm>
          <a:prstGeom prst="rect">
            <a:avLst/>
          </a:prstGeom>
        </p:spPr>
      </p:pic>
      <p:sp>
        <p:nvSpPr>
          <p:cNvPr id="6" name="Text 3"/>
          <p:cNvSpPr txBox="1"/>
          <p:nvPr/>
        </p:nvSpPr>
        <p:spPr>
          <a:xfrm>
            <a:off x="685800" y="6126480"/>
            <a:ext cx="7315200" cy="274320"/>
          </a:xfrm>
          <a:prstGeom prst="rect">
            <a:avLst/>
          </a:prstGeom>
          <a:noFill/>
          <a:ln/>
        </p:spPr>
        <p:txBody>
          <a:bodyPr wrap="square" lIns="0" tIns="0" rIns="0" bIns="0" rtlCol="0" anchor="ctr"/>
          <a:lstStyle/>
          <a:p>
            <a:pPr algn="l" indent="0" marL="0">
              <a:buNone/>
            </a:pPr>
            <a:r>
              <a:rPr lang="en-US" sz="1000" spc="60" kern="0" dirty="0">
                <a:solidFill>
                  <a:srgbClr val="6E7681"/>
                </a:solidFill>
                <a:latin typeface="Arial" pitchFamily="34" charset="0"/>
                <a:ea typeface="Arial" pitchFamily="34" charset="-122"/>
                <a:cs typeface="Arial" pitchFamily="34" charset="-120"/>
              </a:rPr>
              <a:t>Executive analytics</a:t>
            </a:r>
            <a:endParaRPr lang="en-US" sz="1000" dirty="0"/>
          </a:p>
        </p:txBody>
      </p:sp>
      <p:sp>
        <p:nvSpPr>
          <p:cNvPr id="7" name="Text 4"/>
          <p:cNvSpPr txBox="1"/>
          <p:nvPr/>
        </p:nvSpPr>
        <p:spPr>
          <a:xfrm>
            <a:off x="10591495" y="6126480"/>
            <a:ext cx="914400" cy="274320"/>
          </a:xfrm>
          <a:prstGeom prst="rect">
            <a:avLst/>
          </a:prstGeom>
          <a:noFill/>
          <a:ln/>
        </p:spPr>
        <p:txBody>
          <a:bodyPr wrap="square" lIns="0" tIns="0" rIns="0" bIns="0" rtlCol="0" anchor="ctr"/>
          <a:lstStyle/>
          <a:p>
            <a:pPr algn="r" indent="0" marL="0">
              <a:buNone/>
            </a:pPr>
            <a:r>
              <a:rPr lang="en-US" sz="1000" dirty="0">
                <a:solidFill>
                  <a:srgbClr val="6E7681"/>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DFD"/>
        </a:solidFill>
      </p:bgPr>
    </p:bg>
    <p:spTree>
      <p:nvGrpSpPr>
        <p:cNvPr id="1" name=""/>
        <p:cNvGrpSpPr/>
        <p:nvPr/>
      </p:nvGrpSpPr>
      <p:grpSpPr>
        <a:xfrm>
          <a:off x="0" y="0"/>
          <a:ext cx="0" cy="0"/>
          <a:chOff x="0" y="0"/>
          <a:chExt cx="0" cy="0"/>
        </a:xfrm>
      </p:grpSpPr>
      <p:sp>
        <p:nvSpPr>
          <p:cNvPr id="2" name="Text 0"/>
          <p:cNvSpPr txBox="1"/>
          <p:nvPr/>
        </p:nvSpPr>
        <p:spPr>
          <a:xfrm>
            <a:off x="685800" y="640080"/>
            <a:ext cx="10820095" cy="777240"/>
          </a:xfrm>
          <a:prstGeom prst="rect">
            <a:avLst/>
          </a:prstGeom>
          <a:noFill/>
          <a:ln/>
        </p:spPr>
        <p:txBody>
          <a:bodyPr wrap="square" lIns="0" tIns="0" rIns="0" bIns="0" rtlCol="0" anchor="b"/>
          <a:lstStyle/>
          <a:p>
            <a:pPr algn="l" indent="0" marL="0">
              <a:buNone/>
            </a:pPr>
            <a:r>
              <a:rPr lang="en-US" sz="3000" b="1" spc="-20" kern="0" dirty="0">
                <a:solidFill>
                  <a:srgbClr val="222222"/>
                </a:solidFill>
                <a:latin typeface="Arial" pitchFamily="34" charset="0"/>
                <a:ea typeface="Arial" pitchFamily="34" charset="-122"/>
                <a:cs typeface="Arial" pitchFamily="34" charset="-120"/>
              </a:rPr>
              <a:t>Content Syndication &amp; Property Showcasing</a:t>
            </a:r>
            <a:endParaRPr lang="en-US" sz="3000" dirty="0"/>
          </a:p>
        </p:txBody>
      </p:sp>
      <p:sp>
        <p:nvSpPr>
          <p:cNvPr id="3" name="Text 1"/>
          <p:cNvSpPr txBox="1"/>
          <p:nvPr/>
        </p:nvSpPr>
        <p:spPr>
          <a:xfrm>
            <a:off x="685800" y="2148840"/>
            <a:ext cx="4846320" cy="3657600"/>
          </a:xfrm>
          <a:prstGeom prst="rect">
            <a:avLst/>
          </a:prstGeom>
          <a:noFill/>
          <a:ln/>
        </p:spPr>
        <p:txBody>
          <a:bodyPr wrap="square" lIns="0" tIns="0" rIns="0" bIns="0" rtlCol="0" anchor="ctr"/>
          <a:lstStyle/>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The Villa Showcase holds the full inventory: plots, sizes, built-up area, possession.</a:t>
            </a:r>
            <a:endParaRPr lang="en-US" sz="1500" dirty="0"/>
          </a:p>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Project material is presentation-ready and drawn from the live records.</a:t>
            </a:r>
            <a:endParaRPr lang="en-US" sz="1500" dirty="0"/>
          </a:p>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Publish a video once and send it to every channel in a single action.</a:t>
            </a:r>
            <a:endParaRPr lang="en-US" sz="1500" dirty="0"/>
          </a:p>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Captions, destinations and progress are handled in one window.</a:t>
            </a:r>
            <a:endParaRPr lang="en-US" sz="1500" dirty="0"/>
          </a:p>
        </p:txBody>
      </p:sp>
      <p:sp>
        <p:nvSpPr>
          <p:cNvPr id="4" name="Shape 2"/>
          <p:cNvSpPr/>
          <p:nvPr/>
        </p:nvSpPr>
        <p:spPr>
          <a:xfrm>
            <a:off x="6251370" y="2469566"/>
            <a:ext cx="5200044" cy="3016148"/>
          </a:xfrm>
          <a:prstGeom prst="rect">
            <a:avLst/>
          </a:prstGeom>
          <a:solidFill>
            <a:srgbClr val="C7D0D8"/>
          </a:solidFill>
          <a:ln w="9525">
            <a:solidFill>
              <a:srgbClr val="C7D0D8"/>
            </a:solidFill>
            <a:prstDash val="solid"/>
          </a:ln>
        </p:spPr>
      </p:sp>
      <p:pic>
        <p:nvPicPr>
          <p:cNvPr id="5" name="Image 0" descr="/private/tmp/claude-501/-Users-koushikgoudshaganti-Desktop-Agency-Villa-dash/b4a776ba-42fb-4119-9643-4f2864aa45d3/scratchpad/deck/shots/slide-07.png">    </p:cNvPr>
          <p:cNvPicPr>
            <a:picLocks noChangeAspect="1"/>
          </p:cNvPicPr>
          <p:nvPr/>
        </p:nvPicPr>
        <p:blipFill>
          <a:blip r:embed="rId1"/>
          <a:stretch>
            <a:fillRect/>
          </a:stretch>
        </p:blipFill>
        <p:spPr>
          <a:xfrm>
            <a:off x="6267829" y="2486025"/>
            <a:ext cx="5167126" cy="2983230"/>
          </a:xfrm>
          <a:prstGeom prst="rect">
            <a:avLst/>
          </a:prstGeom>
        </p:spPr>
      </p:pic>
      <p:sp>
        <p:nvSpPr>
          <p:cNvPr id="6" name="Text 3"/>
          <p:cNvSpPr txBox="1"/>
          <p:nvPr/>
        </p:nvSpPr>
        <p:spPr>
          <a:xfrm>
            <a:off x="685800" y="6126480"/>
            <a:ext cx="7315200" cy="274320"/>
          </a:xfrm>
          <a:prstGeom prst="rect">
            <a:avLst/>
          </a:prstGeom>
          <a:noFill/>
          <a:ln/>
        </p:spPr>
        <p:txBody>
          <a:bodyPr wrap="square" lIns="0" tIns="0" rIns="0" bIns="0" rtlCol="0" anchor="ctr"/>
          <a:lstStyle/>
          <a:p>
            <a:pPr algn="l" indent="0" marL="0">
              <a:buNone/>
            </a:pPr>
            <a:r>
              <a:rPr lang="en-US" sz="1000" spc="60" kern="0" dirty="0">
                <a:solidFill>
                  <a:srgbClr val="6E7681"/>
                </a:solidFill>
                <a:latin typeface="Arial" pitchFamily="34" charset="0"/>
                <a:ea typeface="Arial" pitchFamily="34" charset="-122"/>
                <a:cs typeface="Arial" pitchFamily="34" charset="-120"/>
              </a:rPr>
              <a:t>Marketing hub</a:t>
            </a:r>
            <a:endParaRPr lang="en-US" sz="1000" dirty="0"/>
          </a:p>
        </p:txBody>
      </p:sp>
      <p:sp>
        <p:nvSpPr>
          <p:cNvPr id="7" name="Text 4"/>
          <p:cNvSpPr txBox="1"/>
          <p:nvPr/>
        </p:nvSpPr>
        <p:spPr>
          <a:xfrm>
            <a:off x="10591495" y="6126480"/>
            <a:ext cx="914400" cy="274320"/>
          </a:xfrm>
          <a:prstGeom prst="rect">
            <a:avLst/>
          </a:prstGeom>
          <a:noFill/>
          <a:ln/>
        </p:spPr>
        <p:txBody>
          <a:bodyPr wrap="square" lIns="0" tIns="0" rIns="0" bIns="0" rtlCol="0" anchor="ctr"/>
          <a:lstStyle/>
          <a:p>
            <a:pPr algn="r" indent="0" marL="0">
              <a:buNone/>
            </a:pPr>
            <a:r>
              <a:rPr lang="en-US" sz="1000" dirty="0">
                <a:solidFill>
                  <a:srgbClr val="6E7681"/>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FDFD"/>
        </a:solidFill>
      </p:bgPr>
    </p:bg>
    <p:spTree>
      <p:nvGrpSpPr>
        <p:cNvPr id="1" name=""/>
        <p:cNvGrpSpPr/>
        <p:nvPr/>
      </p:nvGrpSpPr>
      <p:grpSpPr>
        <a:xfrm>
          <a:off x="0" y="0"/>
          <a:ext cx="0" cy="0"/>
          <a:chOff x="0" y="0"/>
          <a:chExt cx="0" cy="0"/>
        </a:xfrm>
      </p:grpSpPr>
      <p:sp>
        <p:nvSpPr>
          <p:cNvPr id="2" name="Text 0"/>
          <p:cNvSpPr txBox="1"/>
          <p:nvPr/>
        </p:nvSpPr>
        <p:spPr>
          <a:xfrm>
            <a:off x="685800" y="640080"/>
            <a:ext cx="10820095" cy="777240"/>
          </a:xfrm>
          <a:prstGeom prst="rect">
            <a:avLst/>
          </a:prstGeom>
          <a:noFill/>
          <a:ln/>
        </p:spPr>
        <p:txBody>
          <a:bodyPr wrap="square" lIns="0" tIns="0" rIns="0" bIns="0" rtlCol="0" anchor="b"/>
          <a:lstStyle/>
          <a:p>
            <a:pPr algn="l" indent="0" marL="0">
              <a:buNone/>
            </a:pPr>
            <a:r>
              <a:rPr lang="en-US" sz="3000" b="1" spc="-20" kern="0" dirty="0">
                <a:solidFill>
                  <a:srgbClr val="222222"/>
                </a:solidFill>
                <a:latin typeface="Arial" pitchFamily="34" charset="0"/>
                <a:ea typeface="Arial" pitchFamily="34" charset="-122"/>
                <a:cs typeface="Arial" pitchFamily="34" charset="-120"/>
              </a:rPr>
              <a:t>Pipeline CRM &amp; Ad Performance Tracking</a:t>
            </a:r>
            <a:endParaRPr lang="en-US" sz="3000" dirty="0"/>
          </a:p>
        </p:txBody>
      </p:sp>
      <p:sp>
        <p:nvSpPr>
          <p:cNvPr id="3" name="Text 1"/>
          <p:cNvSpPr txBox="1"/>
          <p:nvPr/>
        </p:nvSpPr>
        <p:spPr>
          <a:xfrm>
            <a:off x="685800" y="2148840"/>
            <a:ext cx="4846320" cy="3657600"/>
          </a:xfrm>
          <a:prstGeom prst="rect">
            <a:avLst/>
          </a:prstGeom>
          <a:noFill/>
          <a:ln/>
        </p:spPr>
        <p:txBody>
          <a:bodyPr wrap="square" lIns="0" tIns="0" rIns="0" bIns="0" rtlCol="0" anchor="ctr"/>
          <a:lstStyle/>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Customer cards carry total value, amount collected and the exact booking stage.</a:t>
            </a:r>
            <a:endParaRPr lang="en-US" sz="1500" dirty="0"/>
          </a:p>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The pipeline runs from first enquiry through to registration.</a:t>
            </a:r>
            <a:endParaRPr lang="en-US" sz="1500" dirty="0"/>
          </a:p>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Live campaign performance sits beside the pipeline it feeds.</a:t>
            </a:r>
            <a:endParaRPr lang="en-US" sz="1500" dirty="0"/>
          </a:p>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Spend, return and cost per site visit are tracked campaign by campaign.</a:t>
            </a:r>
            <a:endParaRPr lang="en-US" sz="1500" dirty="0"/>
          </a:p>
        </p:txBody>
      </p:sp>
      <p:sp>
        <p:nvSpPr>
          <p:cNvPr id="4" name="Shape 2"/>
          <p:cNvSpPr/>
          <p:nvPr/>
        </p:nvSpPr>
        <p:spPr>
          <a:xfrm>
            <a:off x="6183173" y="2861138"/>
            <a:ext cx="5336438" cy="2233005"/>
          </a:xfrm>
          <a:prstGeom prst="rect">
            <a:avLst/>
          </a:prstGeom>
          <a:solidFill>
            <a:srgbClr val="C7D0D8"/>
          </a:solidFill>
          <a:ln w="9525">
            <a:solidFill>
              <a:srgbClr val="C7D0D8"/>
            </a:solidFill>
            <a:prstDash val="solid"/>
          </a:ln>
        </p:spPr>
      </p:sp>
      <p:pic>
        <p:nvPicPr>
          <p:cNvPr id="5" name="Image 0" descr="/private/tmp/claude-501/-Users-koushikgoudshaganti-Desktop-Agency-Villa-dash/b4a776ba-42fb-4119-9643-4f2864aa45d3/scratchpad/deck/shots/slide-08.png">    </p:cNvPr>
          <p:cNvPicPr>
            <a:picLocks noChangeAspect="1"/>
          </p:cNvPicPr>
          <p:nvPr/>
        </p:nvPicPr>
        <p:blipFill>
          <a:blip r:embed="rId1"/>
          <a:stretch>
            <a:fillRect/>
          </a:stretch>
        </p:blipFill>
        <p:spPr>
          <a:xfrm>
            <a:off x="6199632" y="2877597"/>
            <a:ext cx="5303520" cy="2200087"/>
          </a:xfrm>
          <a:prstGeom prst="rect">
            <a:avLst/>
          </a:prstGeom>
        </p:spPr>
      </p:pic>
      <p:sp>
        <p:nvSpPr>
          <p:cNvPr id="6" name="Text 3"/>
          <p:cNvSpPr txBox="1"/>
          <p:nvPr/>
        </p:nvSpPr>
        <p:spPr>
          <a:xfrm>
            <a:off x="685800" y="6126480"/>
            <a:ext cx="7315200" cy="274320"/>
          </a:xfrm>
          <a:prstGeom prst="rect">
            <a:avLst/>
          </a:prstGeom>
          <a:noFill/>
          <a:ln/>
        </p:spPr>
        <p:txBody>
          <a:bodyPr wrap="square" lIns="0" tIns="0" rIns="0" bIns="0" rtlCol="0" anchor="ctr"/>
          <a:lstStyle/>
          <a:p>
            <a:pPr algn="l" indent="0" marL="0">
              <a:buNone/>
            </a:pPr>
            <a:r>
              <a:rPr lang="en-US" sz="1000" spc="60" kern="0" dirty="0">
                <a:solidFill>
                  <a:srgbClr val="6E7681"/>
                </a:solidFill>
                <a:latin typeface="Arial" pitchFamily="34" charset="0"/>
                <a:ea typeface="Arial" pitchFamily="34" charset="-122"/>
                <a:cs typeface="Arial" pitchFamily="34" charset="-120"/>
              </a:rPr>
              <a:t>Lead management and paid acquisition</a:t>
            </a:r>
            <a:endParaRPr lang="en-US" sz="1000" dirty="0"/>
          </a:p>
        </p:txBody>
      </p:sp>
      <p:sp>
        <p:nvSpPr>
          <p:cNvPr id="7" name="Text 4"/>
          <p:cNvSpPr txBox="1"/>
          <p:nvPr/>
        </p:nvSpPr>
        <p:spPr>
          <a:xfrm>
            <a:off x="10591495" y="6126480"/>
            <a:ext cx="914400" cy="274320"/>
          </a:xfrm>
          <a:prstGeom prst="rect">
            <a:avLst/>
          </a:prstGeom>
          <a:noFill/>
          <a:ln/>
        </p:spPr>
        <p:txBody>
          <a:bodyPr wrap="square" lIns="0" tIns="0" rIns="0" bIns="0" rtlCol="0" anchor="ctr"/>
          <a:lstStyle/>
          <a:p>
            <a:pPr algn="r" indent="0" marL="0">
              <a:buNone/>
            </a:pPr>
            <a:r>
              <a:rPr lang="en-US" sz="1000" dirty="0">
                <a:solidFill>
                  <a:srgbClr val="6E7681"/>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DFDFD"/>
        </a:solidFill>
      </p:bgPr>
    </p:bg>
    <p:spTree>
      <p:nvGrpSpPr>
        <p:cNvPr id="1" name=""/>
        <p:cNvGrpSpPr/>
        <p:nvPr/>
      </p:nvGrpSpPr>
      <p:grpSpPr>
        <a:xfrm>
          <a:off x="0" y="0"/>
          <a:ext cx="0" cy="0"/>
          <a:chOff x="0" y="0"/>
          <a:chExt cx="0" cy="0"/>
        </a:xfrm>
      </p:grpSpPr>
      <p:sp>
        <p:nvSpPr>
          <p:cNvPr id="2" name="Text 0"/>
          <p:cNvSpPr txBox="1"/>
          <p:nvPr/>
        </p:nvSpPr>
        <p:spPr>
          <a:xfrm>
            <a:off x="685800" y="640080"/>
            <a:ext cx="10820095" cy="777240"/>
          </a:xfrm>
          <a:prstGeom prst="rect">
            <a:avLst/>
          </a:prstGeom>
          <a:noFill/>
          <a:ln/>
        </p:spPr>
        <p:txBody>
          <a:bodyPr wrap="square" lIns="0" tIns="0" rIns="0" bIns="0" rtlCol="0" anchor="b"/>
          <a:lstStyle/>
          <a:p>
            <a:pPr algn="l" indent="0" marL="0">
              <a:buNone/>
            </a:pPr>
            <a:r>
              <a:rPr lang="en-US" sz="3000" b="1" spc="-20" kern="0" dirty="0">
                <a:solidFill>
                  <a:srgbClr val="222222"/>
                </a:solidFill>
                <a:latin typeface="Arial" pitchFamily="34" charset="0"/>
                <a:ea typeface="Arial" pitchFamily="34" charset="-122"/>
                <a:cs typeface="Arial" pitchFamily="34" charset="-120"/>
              </a:rPr>
              <a:t>Global Operations Control Center</a:t>
            </a:r>
            <a:endParaRPr lang="en-US" sz="3000" dirty="0"/>
          </a:p>
        </p:txBody>
      </p:sp>
      <p:sp>
        <p:nvSpPr>
          <p:cNvPr id="3" name="Text 1"/>
          <p:cNvSpPr txBox="1"/>
          <p:nvPr/>
        </p:nvSpPr>
        <p:spPr>
          <a:xfrm>
            <a:off x="685800" y="2148840"/>
            <a:ext cx="4846320" cy="3657600"/>
          </a:xfrm>
          <a:prstGeom prst="rect">
            <a:avLst/>
          </a:prstGeom>
          <a:noFill/>
          <a:ln/>
        </p:spPr>
        <p:txBody>
          <a:bodyPr wrap="square" lIns="0" tIns="0" rIns="0" bIns="0" rtlCol="0" anchor="ctr"/>
          <a:lstStyle/>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A single inbox holds every live customer conversation across the operation.</a:t>
            </a:r>
            <a:endParaRPr lang="en-US" sz="1500" dirty="0"/>
          </a:p>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Administrators oversee every account, role and permission from one screen.</a:t>
            </a:r>
            <a:endParaRPr lang="en-US" sz="1500" dirty="0"/>
          </a:p>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Active call queues and messaging batches are visible while they run.</a:t>
            </a:r>
            <a:endParaRPr lang="en-US" sz="1500" dirty="0"/>
          </a:p>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The team's own internal threads sit beside the work they concern.</a:t>
            </a:r>
            <a:endParaRPr lang="en-US" sz="1500" dirty="0"/>
          </a:p>
        </p:txBody>
      </p:sp>
      <p:sp>
        <p:nvSpPr>
          <p:cNvPr id="4" name="Shape 2"/>
          <p:cNvSpPr/>
          <p:nvPr/>
        </p:nvSpPr>
        <p:spPr>
          <a:xfrm>
            <a:off x="6183173" y="2555886"/>
            <a:ext cx="5336438" cy="2843508"/>
          </a:xfrm>
          <a:prstGeom prst="rect">
            <a:avLst/>
          </a:prstGeom>
          <a:solidFill>
            <a:srgbClr val="C7D0D8"/>
          </a:solidFill>
          <a:ln w="9525">
            <a:solidFill>
              <a:srgbClr val="C7D0D8"/>
            </a:solidFill>
            <a:prstDash val="solid"/>
          </a:ln>
        </p:spPr>
      </p:sp>
      <p:pic>
        <p:nvPicPr>
          <p:cNvPr id="5" name="Image 0" descr="/private/tmp/claude-501/-Users-koushikgoudshaganti-Desktop-Agency-Villa-dash/b4a776ba-42fb-4119-9643-4f2864aa45d3/scratchpad/deck/shots/slide-09.png">    </p:cNvPr>
          <p:cNvPicPr>
            <a:picLocks noChangeAspect="1"/>
          </p:cNvPicPr>
          <p:nvPr/>
        </p:nvPicPr>
        <p:blipFill>
          <a:blip r:embed="rId1"/>
          <a:stretch>
            <a:fillRect/>
          </a:stretch>
        </p:blipFill>
        <p:spPr>
          <a:xfrm>
            <a:off x="6199632" y="2572345"/>
            <a:ext cx="5303520" cy="2810589"/>
          </a:xfrm>
          <a:prstGeom prst="rect">
            <a:avLst/>
          </a:prstGeom>
        </p:spPr>
      </p:pic>
      <p:sp>
        <p:nvSpPr>
          <p:cNvPr id="6" name="Text 3"/>
          <p:cNvSpPr txBox="1"/>
          <p:nvPr/>
        </p:nvSpPr>
        <p:spPr>
          <a:xfrm>
            <a:off x="685800" y="6126480"/>
            <a:ext cx="7315200" cy="274320"/>
          </a:xfrm>
          <a:prstGeom prst="rect">
            <a:avLst/>
          </a:prstGeom>
          <a:noFill/>
          <a:ln/>
        </p:spPr>
        <p:txBody>
          <a:bodyPr wrap="square" lIns="0" tIns="0" rIns="0" bIns="0" rtlCol="0" anchor="ctr"/>
          <a:lstStyle/>
          <a:p>
            <a:pPr algn="l" indent="0" marL="0">
              <a:buNone/>
            </a:pPr>
            <a:r>
              <a:rPr lang="en-US" sz="1000" spc="60" kern="0" dirty="0">
                <a:solidFill>
                  <a:srgbClr val="6E7681"/>
                </a:solidFill>
                <a:latin typeface="Arial" pitchFamily="34" charset="0"/>
                <a:ea typeface="Arial" pitchFamily="34" charset="-122"/>
                <a:cs typeface="Arial" pitchFamily="34" charset="-120"/>
              </a:rPr>
              <a:t>Central communication hub</a:t>
            </a:r>
            <a:endParaRPr lang="en-US" sz="1000" dirty="0"/>
          </a:p>
        </p:txBody>
      </p:sp>
      <p:sp>
        <p:nvSpPr>
          <p:cNvPr id="7" name="Text 4"/>
          <p:cNvSpPr txBox="1"/>
          <p:nvPr/>
        </p:nvSpPr>
        <p:spPr>
          <a:xfrm>
            <a:off x="10591495" y="6126480"/>
            <a:ext cx="914400" cy="274320"/>
          </a:xfrm>
          <a:prstGeom prst="rect">
            <a:avLst/>
          </a:prstGeom>
          <a:noFill/>
          <a:ln/>
        </p:spPr>
        <p:txBody>
          <a:bodyPr wrap="square" lIns="0" tIns="0" rIns="0" bIns="0" rtlCol="0" anchor="ctr"/>
          <a:lstStyle/>
          <a:p>
            <a:pPr algn="r" indent="0" marL="0">
              <a:buNone/>
            </a:pPr>
            <a:r>
              <a:rPr lang="en-US" sz="1000" dirty="0">
                <a:solidFill>
                  <a:srgbClr val="6E7681"/>
                </a:solidFill>
                <a:latin typeface="Arial" pitchFamily="34" charset="0"/>
                <a:ea typeface="Arial" pitchFamily="34" charset="-122"/>
                <a:cs typeface="Arial"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FDFD"/>
        </a:solidFill>
      </p:bgPr>
    </p:bg>
    <p:spTree>
      <p:nvGrpSpPr>
        <p:cNvPr id="1" name=""/>
        <p:cNvGrpSpPr/>
        <p:nvPr/>
      </p:nvGrpSpPr>
      <p:grpSpPr>
        <a:xfrm>
          <a:off x="0" y="0"/>
          <a:ext cx="0" cy="0"/>
          <a:chOff x="0" y="0"/>
          <a:chExt cx="0" cy="0"/>
        </a:xfrm>
      </p:grpSpPr>
      <p:sp>
        <p:nvSpPr>
          <p:cNvPr id="2" name="Text 0"/>
          <p:cNvSpPr txBox="1"/>
          <p:nvPr/>
        </p:nvSpPr>
        <p:spPr>
          <a:xfrm>
            <a:off x="685800" y="640080"/>
            <a:ext cx="10820095" cy="777240"/>
          </a:xfrm>
          <a:prstGeom prst="rect">
            <a:avLst/>
          </a:prstGeom>
          <a:noFill/>
          <a:ln/>
        </p:spPr>
        <p:txBody>
          <a:bodyPr wrap="square" lIns="0" tIns="0" rIns="0" bIns="0" rtlCol="0" anchor="b"/>
          <a:lstStyle/>
          <a:p>
            <a:pPr algn="l" indent="0" marL="0">
              <a:buNone/>
            </a:pPr>
            <a:r>
              <a:rPr lang="en-US" sz="3000" b="1" spc="-20" kern="0" dirty="0">
                <a:solidFill>
                  <a:srgbClr val="222222"/>
                </a:solidFill>
                <a:latin typeface="Arial" pitchFamily="34" charset="0"/>
                <a:ea typeface="Arial" pitchFamily="34" charset="-122"/>
                <a:cs typeface="Arial" pitchFamily="34" charset="-120"/>
              </a:rPr>
              <a:t>Publishing Automation — Live Today</a:t>
            </a:r>
            <a:endParaRPr lang="en-US" sz="3000" dirty="0"/>
          </a:p>
        </p:txBody>
      </p:sp>
      <p:sp>
        <p:nvSpPr>
          <p:cNvPr id="3" name="Text 1"/>
          <p:cNvSpPr txBox="1"/>
          <p:nvPr/>
        </p:nvSpPr>
        <p:spPr>
          <a:xfrm>
            <a:off x="685800" y="2148840"/>
            <a:ext cx="4846320" cy="3657600"/>
          </a:xfrm>
          <a:prstGeom prst="rect">
            <a:avLst/>
          </a:prstGeom>
          <a:noFill/>
          <a:ln/>
        </p:spPr>
        <p:txBody>
          <a:bodyPr wrap="square" lIns="0" tIns="0" rIns="0" bIns="0" rtlCol="0" anchor="ctr"/>
          <a:lstStyle/>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Every video goes out to all connected channels in a single action.</a:t>
            </a:r>
            <a:endParaRPr lang="en-US" sz="1500" dirty="0"/>
          </a:p>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The caption and the description are written for each post automatically.</a:t>
            </a:r>
            <a:endParaRPr lang="en-US" sz="1500" dirty="0"/>
          </a:p>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Comments on the published post are answered interactively.</a:t>
            </a:r>
            <a:endParaRPr lang="en-US" sz="1500" dirty="0"/>
          </a:p>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Nothing is uploaded, titled or retyped by hand.</a:t>
            </a:r>
            <a:endParaRPr lang="en-US" sz="1500" dirty="0"/>
          </a:p>
        </p:txBody>
      </p:sp>
      <p:sp>
        <p:nvSpPr>
          <p:cNvPr id="4" name="Shape 2"/>
          <p:cNvSpPr/>
          <p:nvPr/>
        </p:nvSpPr>
        <p:spPr>
          <a:xfrm>
            <a:off x="6183173" y="2914730"/>
            <a:ext cx="5336438" cy="2125821"/>
          </a:xfrm>
          <a:prstGeom prst="rect">
            <a:avLst/>
          </a:prstGeom>
          <a:solidFill>
            <a:srgbClr val="C7D0D8"/>
          </a:solidFill>
          <a:ln w="9525">
            <a:solidFill>
              <a:srgbClr val="C7D0D8"/>
            </a:solidFill>
            <a:prstDash val="solid"/>
          </a:ln>
        </p:spPr>
      </p:sp>
      <p:pic>
        <p:nvPicPr>
          <p:cNvPr id="5" name="Image 0" descr="/private/tmp/claude-501/-Users-koushikgoudshaganti-Desktop-Agency-Villa-dash/b4a776ba-42fb-4119-9643-4f2864aa45d3/scratchpad/deck/shots/slide-10.png">    </p:cNvPr>
          <p:cNvPicPr>
            <a:picLocks noChangeAspect="1"/>
          </p:cNvPicPr>
          <p:nvPr/>
        </p:nvPicPr>
        <p:blipFill>
          <a:blip r:embed="rId1"/>
          <a:stretch>
            <a:fillRect/>
          </a:stretch>
        </p:blipFill>
        <p:spPr>
          <a:xfrm>
            <a:off x="6199632" y="2931189"/>
            <a:ext cx="5303520" cy="2092903"/>
          </a:xfrm>
          <a:prstGeom prst="rect">
            <a:avLst/>
          </a:prstGeom>
        </p:spPr>
      </p:pic>
      <p:sp>
        <p:nvSpPr>
          <p:cNvPr id="6" name="Text 3"/>
          <p:cNvSpPr txBox="1"/>
          <p:nvPr/>
        </p:nvSpPr>
        <p:spPr>
          <a:xfrm>
            <a:off x="685800" y="6126480"/>
            <a:ext cx="7315200" cy="274320"/>
          </a:xfrm>
          <a:prstGeom prst="rect">
            <a:avLst/>
          </a:prstGeom>
          <a:noFill/>
          <a:ln/>
        </p:spPr>
        <p:txBody>
          <a:bodyPr wrap="square" lIns="0" tIns="0" rIns="0" bIns="0" rtlCol="0" anchor="ctr"/>
          <a:lstStyle/>
          <a:p>
            <a:pPr algn="l" indent="0" marL="0">
              <a:buNone/>
            </a:pPr>
            <a:r>
              <a:rPr lang="en-US" sz="1000" spc="60" kern="0" dirty="0">
                <a:solidFill>
                  <a:srgbClr val="6E7681"/>
                </a:solidFill>
                <a:latin typeface="Arial" pitchFamily="34" charset="0"/>
                <a:ea typeface="Arial" pitchFamily="34" charset="-122"/>
                <a:cs typeface="Arial" pitchFamily="34" charset="-120"/>
              </a:rPr>
              <a:t>Content automation</a:t>
            </a:r>
            <a:endParaRPr lang="en-US" sz="1000" dirty="0"/>
          </a:p>
        </p:txBody>
      </p:sp>
      <p:sp>
        <p:nvSpPr>
          <p:cNvPr id="7" name="Text 4"/>
          <p:cNvSpPr txBox="1"/>
          <p:nvPr/>
        </p:nvSpPr>
        <p:spPr>
          <a:xfrm>
            <a:off x="10591495" y="6126480"/>
            <a:ext cx="914400" cy="274320"/>
          </a:xfrm>
          <a:prstGeom prst="rect">
            <a:avLst/>
          </a:prstGeom>
          <a:noFill/>
          <a:ln/>
        </p:spPr>
        <p:txBody>
          <a:bodyPr wrap="square" lIns="0" tIns="0" rIns="0" bIns="0" rtlCol="0" anchor="ctr"/>
          <a:lstStyle/>
          <a:p>
            <a:pPr algn="r" indent="0" marL="0">
              <a:buNone/>
            </a:pPr>
            <a:r>
              <a:rPr lang="en-US" sz="1000" dirty="0">
                <a:solidFill>
                  <a:srgbClr val="6E7681"/>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DFDFD"/>
        </a:solidFill>
      </p:bgPr>
    </p:bg>
    <p:spTree>
      <p:nvGrpSpPr>
        <p:cNvPr id="1" name=""/>
        <p:cNvGrpSpPr/>
        <p:nvPr/>
      </p:nvGrpSpPr>
      <p:grpSpPr>
        <a:xfrm>
          <a:off x="0" y="0"/>
          <a:ext cx="0" cy="0"/>
          <a:chOff x="0" y="0"/>
          <a:chExt cx="0" cy="0"/>
        </a:xfrm>
      </p:grpSpPr>
      <p:sp>
        <p:nvSpPr>
          <p:cNvPr id="2" name="Text 0"/>
          <p:cNvSpPr txBox="1"/>
          <p:nvPr/>
        </p:nvSpPr>
        <p:spPr>
          <a:xfrm>
            <a:off x="685800" y="640080"/>
            <a:ext cx="10820095" cy="777240"/>
          </a:xfrm>
          <a:prstGeom prst="rect">
            <a:avLst/>
          </a:prstGeom>
          <a:noFill/>
          <a:ln/>
        </p:spPr>
        <p:txBody>
          <a:bodyPr wrap="square" lIns="0" tIns="0" rIns="0" bIns="0" rtlCol="0" anchor="b"/>
          <a:lstStyle/>
          <a:p>
            <a:pPr algn="l" indent="0" marL="0">
              <a:buNone/>
            </a:pPr>
            <a:r>
              <a:rPr lang="en-US" sz="3000" b="1" spc="-20" kern="0" dirty="0">
                <a:solidFill>
                  <a:srgbClr val="222222"/>
                </a:solidFill>
                <a:latin typeface="Arial" pitchFamily="34" charset="0"/>
                <a:ea typeface="Arial" pitchFamily="34" charset="-122"/>
                <a:cs typeface="Arial" pitchFamily="34" charset="-120"/>
              </a:rPr>
              <a:t>Roadmap — Phase 2 and Phase 3</a:t>
            </a:r>
            <a:endParaRPr lang="en-US" sz="3000" dirty="0"/>
          </a:p>
        </p:txBody>
      </p:sp>
      <p:sp>
        <p:nvSpPr>
          <p:cNvPr id="3" name="Text 1"/>
          <p:cNvSpPr txBox="1"/>
          <p:nvPr/>
        </p:nvSpPr>
        <p:spPr>
          <a:xfrm>
            <a:off x="685800" y="2148840"/>
            <a:ext cx="5076292" cy="3657600"/>
          </a:xfrm>
          <a:prstGeom prst="rect">
            <a:avLst/>
          </a:prstGeom>
          <a:noFill/>
          <a:ln/>
        </p:spPr>
        <p:txBody>
          <a:bodyPr wrap="square" lIns="0" tIns="0" rIns="0" bIns="0" rtlCol="0" anchor="ctr"/>
          <a:lstStyle/>
          <a:p>
            <a:pPr algn="l" indent="0" marL="0">
              <a:lnSpc>
                <a:spcPct val="118000"/>
              </a:lnSpc>
              <a:spcAft>
                <a:spcPts val="1800"/>
              </a:spcAft>
              <a:buNone/>
            </a:pPr>
            <a:r>
              <a:rPr lang="en-US" sz="1800" b="1" dirty="0">
                <a:solidFill>
                  <a:srgbClr val="3B6E8C"/>
                </a:solidFill>
                <a:latin typeface="Arial" pitchFamily="34" charset="0"/>
                <a:ea typeface="Arial" pitchFamily="34" charset="-122"/>
                <a:cs typeface="Arial" pitchFamily="34" charset="-120"/>
              </a:rPr>
              <a:t>Phase 2 — Thumbnail approval</a:t>
            </a:r>
            <a:endParaRPr lang="en-US" sz="1500" dirty="0"/>
          </a:p>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A thumbnail is generated for every video and sent to you on WhatsApp or Telegram.</a:t>
            </a:r>
            <a:endParaRPr lang="en-US" sz="1500" dirty="0"/>
          </a:p>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Accept it, or reply with an edit and a new one comes back.</a:t>
            </a:r>
            <a:endParaRPr lang="en-US" sz="1500" dirty="0"/>
          </a:p>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On approval it publishes at the right size for each platform.</a:t>
            </a:r>
            <a:endParaRPr lang="en-US" sz="1500" dirty="0"/>
          </a:p>
        </p:txBody>
      </p:sp>
      <p:sp>
        <p:nvSpPr>
          <p:cNvPr id="4" name="Text 2"/>
          <p:cNvSpPr txBox="1"/>
          <p:nvPr/>
        </p:nvSpPr>
        <p:spPr>
          <a:xfrm>
            <a:off x="6429604" y="2148840"/>
            <a:ext cx="5076292" cy="3657600"/>
          </a:xfrm>
          <a:prstGeom prst="rect">
            <a:avLst/>
          </a:prstGeom>
          <a:noFill/>
          <a:ln/>
        </p:spPr>
        <p:txBody>
          <a:bodyPr wrap="square" lIns="0" tIns="0" rIns="0" bIns="0" rtlCol="0" anchor="ctr"/>
          <a:lstStyle/>
          <a:p>
            <a:pPr algn="l" indent="0" marL="0">
              <a:lnSpc>
                <a:spcPct val="118000"/>
              </a:lnSpc>
              <a:spcAft>
                <a:spcPts val="1800"/>
              </a:spcAft>
              <a:buNone/>
            </a:pPr>
            <a:r>
              <a:rPr lang="en-US" sz="1800" b="1" dirty="0">
                <a:solidFill>
                  <a:srgbClr val="3B6E8C"/>
                </a:solidFill>
                <a:latin typeface="Arial" pitchFamily="34" charset="0"/>
                <a:ea typeface="Arial" pitchFamily="34" charset="-122"/>
                <a:cs typeface="Arial" pitchFamily="34" charset="-120"/>
              </a:rPr>
              <a:t>Phase 3 — Video from an idea</a:t>
            </a:r>
            <a:endParaRPr lang="en-US" sz="1500" dirty="0"/>
          </a:p>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Describe an idea or a prompt and the video is generated, with everything above.</a:t>
            </a:r>
            <a:endParaRPr lang="en-US" sz="1500" dirty="0"/>
          </a:p>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A standing schedule — Tuesday and Thursday, say — proposes the idea itself.</a:t>
            </a:r>
            <a:endParaRPr lang="en-US" sz="1500" dirty="0"/>
          </a:p>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You confirm on your phone; it publishes to the channels you choose.</a:t>
            </a:r>
            <a:endParaRPr lang="en-US" sz="1500" dirty="0"/>
          </a:p>
        </p:txBody>
      </p:sp>
      <p:sp>
        <p:nvSpPr>
          <p:cNvPr id="5" name="Text 3"/>
          <p:cNvSpPr txBox="1"/>
          <p:nvPr/>
        </p:nvSpPr>
        <p:spPr>
          <a:xfrm>
            <a:off x="685800" y="6126480"/>
            <a:ext cx="7315200" cy="274320"/>
          </a:xfrm>
          <a:prstGeom prst="rect">
            <a:avLst/>
          </a:prstGeom>
          <a:noFill/>
          <a:ln/>
        </p:spPr>
        <p:txBody>
          <a:bodyPr wrap="square" lIns="0" tIns="0" rIns="0" bIns="0" rtlCol="0" anchor="ctr"/>
          <a:lstStyle/>
          <a:p>
            <a:pPr algn="l" indent="0" marL="0">
              <a:buNone/>
            </a:pPr>
            <a:r>
              <a:rPr lang="en-US" sz="1000" spc="60" kern="0" dirty="0">
                <a:solidFill>
                  <a:srgbClr val="6E7681"/>
                </a:solidFill>
                <a:latin typeface="Arial" pitchFamily="34" charset="0"/>
                <a:ea typeface="Arial" pitchFamily="34" charset="-122"/>
                <a:cs typeface="Arial" pitchFamily="34" charset="-120"/>
              </a:rPr>
              <a:t>What comes next</a:t>
            </a:r>
            <a:endParaRPr lang="en-US" sz="1000" dirty="0"/>
          </a:p>
        </p:txBody>
      </p:sp>
      <p:sp>
        <p:nvSpPr>
          <p:cNvPr id="6" name="Text 4"/>
          <p:cNvSpPr txBox="1"/>
          <p:nvPr/>
        </p:nvSpPr>
        <p:spPr>
          <a:xfrm>
            <a:off x="10591495" y="6126480"/>
            <a:ext cx="914400" cy="274320"/>
          </a:xfrm>
          <a:prstGeom prst="rect">
            <a:avLst/>
          </a:prstGeom>
          <a:noFill/>
          <a:ln/>
        </p:spPr>
        <p:txBody>
          <a:bodyPr wrap="square" lIns="0" tIns="0" rIns="0" bIns="0" rtlCol="0" anchor="ctr"/>
          <a:lstStyle/>
          <a:p>
            <a:pPr algn="r" indent="0" marL="0">
              <a:buNone/>
            </a:pPr>
            <a:r>
              <a:rPr lang="en-US" sz="1000" dirty="0">
                <a:solidFill>
                  <a:srgbClr val="6E7681"/>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DFDFD"/>
        </a:solidFill>
      </p:bgPr>
    </p:bg>
    <p:spTree>
      <p:nvGrpSpPr>
        <p:cNvPr id="1" name=""/>
        <p:cNvGrpSpPr/>
        <p:nvPr/>
      </p:nvGrpSpPr>
      <p:grpSpPr>
        <a:xfrm>
          <a:off x="0" y="0"/>
          <a:ext cx="0" cy="0"/>
          <a:chOff x="0" y="0"/>
          <a:chExt cx="0" cy="0"/>
        </a:xfrm>
      </p:grpSpPr>
      <p:sp>
        <p:nvSpPr>
          <p:cNvPr id="2" name="Text 0"/>
          <p:cNvSpPr txBox="1"/>
          <p:nvPr/>
        </p:nvSpPr>
        <p:spPr>
          <a:xfrm>
            <a:off x="822960" y="1828800"/>
            <a:ext cx="10058400" cy="1005840"/>
          </a:xfrm>
          <a:prstGeom prst="rect">
            <a:avLst/>
          </a:prstGeom>
          <a:noFill/>
          <a:ln/>
        </p:spPr>
        <p:txBody>
          <a:bodyPr wrap="square" lIns="0" tIns="0" rIns="0" bIns="0" rtlCol="0" anchor="ctr"/>
          <a:lstStyle/>
          <a:p>
            <a:pPr algn="l" indent="0" marL="0">
              <a:buNone/>
            </a:pPr>
            <a:r>
              <a:rPr lang="en-US" sz="4000" b="1" spc="-40" kern="0" dirty="0">
                <a:solidFill>
                  <a:srgbClr val="222222"/>
                </a:solidFill>
                <a:latin typeface="Arial" pitchFamily="34" charset="0"/>
                <a:ea typeface="Arial" pitchFamily="34" charset="-122"/>
                <a:cs typeface="Arial" pitchFamily="34" charset="-120"/>
              </a:rPr>
              <a:t>Thank You</a:t>
            </a:r>
            <a:endParaRPr lang="en-US" sz="4000" dirty="0"/>
          </a:p>
        </p:txBody>
      </p:sp>
      <p:sp>
        <p:nvSpPr>
          <p:cNvPr id="3" name="Text 1"/>
          <p:cNvSpPr txBox="1"/>
          <p:nvPr/>
        </p:nvSpPr>
        <p:spPr>
          <a:xfrm>
            <a:off x="822960" y="3566160"/>
            <a:ext cx="10058400" cy="411480"/>
          </a:xfrm>
          <a:prstGeom prst="rect">
            <a:avLst/>
          </a:prstGeom>
          <a:noFill/>
          <a:ln/>
        </p:spPr>
        <p:txBody>
          <a:bodyPr wrap="square" lIns="0" tIns="0" rIns="0" bIns="0" rtlCol="0" anchor="ctr"/>
          <a:lstStyle/>
          <a:p>
            <a:pPr algn="l" indent="0" marL="0">
              <a:buNone/>
            </a:pPr>
            <a:r>
              <a:rPr lang="en-US" sz="2000" dirty="0">
                <a:solidFill>
                  <a:srgbClr val="3B6E8C"/>
                </a:solidFill>
                <a:latin typeface="Arial" pitchFamily="34" charset="0"/>
                <a:ea typeface="Arial" pitchFamily="34" charset="-122"/>
                <a:cs typeface="Arial" pitchFamily="34" charset="-120"/>
              </a:rPr>
              <a:t>Next steps</a:t>
            </a:r>
            <a:endParaRPr lang="en-US" sz="2000" dirty="0"/>
          </a:p>
        </p:txBody>
      </p:sp>
      <p:sp>
        <p:nvSpPr>
          <p:cNvPr id="4" name="Text 2"/>
          <p:cNvSpPr txBox="1"/>
          <p:nvPr/>
        </p:nvSpPr>
        <p:spPr>
          <a:xfrm>
            <a:off x="822960" y="4709160"/>
            <a:ext cx="7863840" cy="1463040"/>
          </a:xfrm>
          <a:prstGeom prst="rect">
            <a:avLst/>
          </a:prstGeom>
          <a:noFill/>
          <a:ln/>
        </p:spPr>
        <p:txBody>
          <a:bodyPr wrap="square" lIns="0" tIns="0" rIns="0" bIns="0" rtlCol="0" anchor="t"/>
          <a:lstStyle/>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Walk the platform end to end with your sales and marketing leads.</a:t>
            </a:r>
            <a:endParaRPr lang="en-US" sz="1500" dirty="0"/>
          </a:p>
          <a:p>
            <a:pPr algn="l" marL="203200" indent="-203200">
              <a:lnSpc>
                <a:spcPct val="118000"/>
              </a:lnSpc>
              <a:spcAft>
                <a:spcPts val="1600"/>
              </a:spcAft>
              <a:buSzPct val="100000"/>
              <a:buChar char="•"/>
            </a:pPr>
            <a:r>
              <a:rPr lang="en-US" sz="1500" dirty="0">
                <a:solidFill>
                  <a:srgbClr val="222222"/>
                </a:solidFill>
                <a:latin typeface="Arial" pitchFamily="34" charset="0"/>
                <a:ea typeface="Arial" pitchFamily="34" charset="-122"/>
                <a:cs typeface="Arial" pitchFamily="34" charset="-120"/>
              </a:rPr>
              <a:t>Load your own projects, pricing and contact lists.</a:t>
            </a:r>
            <a:endParaRPr lang="en-US" sz="1500" dirty="0"/>
          </a:p>
          <a:p>
            <a:pPr algn="l" marL="203200" indent="-203200">
              <a:lnSpc>
                <a:spcPct val="118000"/>
              </a:lnSpc>
              <a:buSzPct val="100000"/>
              <a:buChar char="•"/>
            </a:pPr>
            <a:r>
              <a:rPr lang="en-US" sz="1500" dirty="0">
                <a:solidFill>
                  <a:srgbClr val="222222"/>
                </a:solidFill>
                <a:latin typeface="Arial" pitchFamily="34" charset="0"/>
                <a:ea typeface="Arial" pitchFamily="34" charset="-122"/>
                <a:cs typeface="Arial" pitchFamily="34" charset="-120"/>
              </a:rPr>
              <a:t>Go live on a single villa project, then widen it across the portfolio.</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Glentree Homes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Real Estate Operations Platform</dc:title>
  <dc:subject>Platform capability overview</dc:subject>
  <dc:creator>Glentree Homes</dc:creator>
  <cp:lastModifiedBy>Glentree Homes</cp:lastModifiedBy>
  <cp:revision>1</cp:revision>
  <dcterms:created xsi:type="dcterms:W3CDTF">2026-10-01T13:49:24Z</dcterms:created>
  <dcterms:modified xsi:type="dcterms:W3CDTF">2026-10-01T13:49:24Z</dcterms:modified>
</cp:coreProperties>
</file>